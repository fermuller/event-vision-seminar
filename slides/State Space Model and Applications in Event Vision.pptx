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slide" Target="slides/slide43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7325e99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7325e99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7325e999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7325e999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7325e99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7325e99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325e999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325e999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7325e99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7325e99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7325e999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7325e999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325e999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325e999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325e999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325e999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325e999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7325e999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7325e999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7325e999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325e999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325e999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7325e999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7325e999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7325e999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7325e999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7325e999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7325e999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325e999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325e999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7325e999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7325e999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0444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red line represents that curve we are approximating, while the black bars represent the values of our hidden state. Each is a coefficient for one element of the Legendre series shown as blue functions. The intuition is that the HiPPO matrix updates these coefficients each step.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7325e999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7325e999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0444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red line represents that curve we are approximating, while the black bars represent the values of our hidden state. Each is a coefficient for one element of the Legendre series shown as blue functions. The intuition is that the HiPPO matrix updates these coefficients each step.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7325e999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7325e999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0444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The red line represents that curve we are approximating, while the black bars represent the values of our hidden state. Each is a coefficient for one element of the Legendre series shown as blue functions. The intuition is that the HiPPO matrix updates these coefficients each step.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7325e9999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7325e9999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7325e999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b7325e999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7325e999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7325e999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7325e9999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7325e9999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7325e9999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7325e9999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7325e9999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7325e9999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7325e9999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7325e9999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7325e999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7325e999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7325e9999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7325e9999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7325e9999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7325e9999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efficient models must have a small state, while effective models must have a state that contains all necessary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from the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7325e999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7325e999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models must have a small state, while effective models must have a state that contains all necessary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from the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7325e999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7325e999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7325e999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7325e999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7325e999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7325e999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7325e9999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7325e9999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7325e9999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7325e9999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7325e999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7325e999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7325e9999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7325e9999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7325e9999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7325e9999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f you train a Transformer on a drone flying at 10 m/s (generating events every 5ms), and then test it on a drone flying at 20 m/s (events every 2.5ms), the Transformer fails. It overfits to the specific "frame rate" of the training data.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7325e9999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7325e9999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train a Transformer on a drone flying at 10 m/s (generating events every 5ms), and then test it on a drone flying at 20 m/s (events every 2.5ms), the Transformer fails. It overfits to the specific "frame rate" of the training data.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7325e999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7325e999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train a Transformer on a drone flying at 10 m/s (generating events every 5ms), and then test it on a drone flying at 20 m/s (events every 2.5ms), the Transformer fails. It overfits to the specific "frame rate" of the training data.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b7325e9999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b7325e9999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train a Transformer on a drone flying at 10 m/s (generating events every 5ms), and then test it on a drone flying at 20 m/s (events every 2.5ms), the Transformer fails. It overfits to the specific "frame rate" of the training data.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b7325e999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b7325e999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train a Transformer on a drone flying at 10 m/s (generating events every 5ms), and then test it on a drone flying at 20 m/s (events every 2.5ms), the Transformer fails. It overfits to the specific "frame rate" of the training data.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7325e99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b7325e99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3" Type="http://schemas.openxmlformats.org/officeDocument/2006/relationships/image" Target="../media/image1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1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5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50.png"/><Relationship Id="rId7" Type="http://schemas.openxmlformats.org/officeDocument/2006/relationships/image" Target="../media/image42.png"/><Relationship Id="rId8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29.png"/><Relationship Id="rId8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46.png"/><Relationship Id="rId5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ibm.com/think/topics/state-space-model" TargetMode="External"/><Relationship Id="rId4" Type="http://schemas.openxmlformats.org/officeDocument/2006/relationships/hyperlink" Target="https://newsletter.maartengrootendorst.com/p/a-visual-guide-to-mamba-and-state" TargetMode="External"/><Relationship Id="rId5" Type="http://schemas.openxmlformats.org/officeDocument/2006/relationships/hyperlink" Target="https://www.youtube.com/watch?v=QJHA-PY8zDc" TargetMode="External"/><Relationship Id="rId6" Type="http://schemas.openxmlformats.org/officeDocument/2006/relationships/hyperlink" Target="https://www.youtube.com/watch?v=1G8CZioSjnM" TargetMode="External"/><Relationship Id="rId7" Type="http://schemas.openxmlformats.org/officeDocument/2006/relationships/hyperlink" Target="https://huggingface.co/blog/lbourdois/get-on-the-ssm-tr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61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Space Model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in Event Vision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63037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Tuxun Lu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Sequence Modeling Crisis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909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Sequence modeling is a machine learning technique for analyzing and predicting patterns in ordered data, where the sequence's order matters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need to remember the past to predict the future(Long Range </a:t>
            </a:r>
            <a:r>
              <a:rPr lang="en"/>
              <a:t>Dependencies)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Models are either easy to train but slow to infer, or fast to infer but hard to train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139" y="1427595"/>
            <a:ext cx="6839735" cy="2480375"/>
          </a:xfrm>
          <a:prstGeom prst="rect">
            <a:avLst/>
          </a:prstGeom>
          <a:noFill/>
          <a:ln>
            <a:noFill/>
          </a:ln>
          <a:effectLst>
            <a:outerShdw blurRad="185738" rotWithShape="0" algn="bl" dist="9525">
              <a:srgbClr val="000000">
                <a:alpha val="43000"/>
              </a:srgbClr>
            </a:outerShdw>
          </a:effectLst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664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Recurrent Neural Networks (RNNs)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56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Easy Inference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Scales linearly with sequence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memory increase with context length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11575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 to train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Cannot parallelize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Vanishing gradients, model forgets information over time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900" y="2483076"/>
            <a:ext cx="6920201" cy="25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600" y="87650"/>
            <a:ext cx="1819276" cy="659751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st="9525">
              <a:srgbClr val="000000">
                <a:alpha val="28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1_ZeprNLy51XytmCDFX0RF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138" y="445025"/>
            <a:ext cx="3219724" cy="43880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Easy Parallel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See the sentence at once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Compute self-attention in parallel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811575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 to Infer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Only generate one token at a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Attention            , every token looks at every other token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230602"/>
            <a:ext cx="3811826" cy="18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652372"/>
            <a:ext cx="4538152" cy="108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1_ZeprNLy51XytmCDFX0RF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4400" y="0"/>
            <a:ext cx="967502" cy="131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{&quot;red&quot;:89,&quot;green&quot;:89,&quot;blue&quot;:89,&quot;origURL&quot;:&quot;https://www.codecogs.com/eqnedit.php?latex=O(L%5E2)#0&quot;,&quot;size&quot;:14,&quot;width&quot;:335.45669291338584,&quot;height&quot;:269.0078740157480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5713" y="1803450"/>
            <a:ext cx="490728" cy="22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1181475"/>
            <a:ext cx="8520600" cy="20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State Space Models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5">
                <a:solidFill>
                  <a:schemeClr val="dk2"/>
                </a:solidFill>
              </a:rPr>
              <a:t>Background</a:t>
            </a:r>
            <a:endParaRPr sz="6100"/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4212975"/>
            <a:ext cx="8520600" cy="11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Reference:</a:t>
            </a:r>
            <a:endParaRPr sz="2000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Gu et al., "Efficiently modeling long sequences with structured state spaces" (2021).</a:t>
            </a:r>
            <a:endParaRPr sz="135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Space?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state space contains the minimum number of variables (state variables) that fully describe a system.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Instead of looking back at every past input to make decision, the model only needs to look at current state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 Model? (Continuous Form)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2824084"/>
            <a:ext cx="8520600" cy="22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maps a 1-D input signal        to an </a:t>
            </a:r>
            <a:r>
              <a:rPr i="1" lang="en"/>
              <a:t>N</a:t>
            </a:r>
            <a:r>
              <a:rPr lang="en"/>
              <a:t>-D latent state        and projects it to a 1-D output signal      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,    ,    ,      are parameters learned by gradient descent.</a:t>
            </a:r>
            <a:endParaRPr/>
          </a:p>
        </p:txBody>
      </p:sp>
      <p:pic>
        <p:nvPicPr>
          <p:cNvPr id="103" name="Google Shape;103;p19" title="Screenshot 2026-01-14 at 15.1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38" y="1337526"/>
            <a:ext cx="3872773" cy="11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9"/>
          <p:cNvGrpSpPr/>
          <p:nvPr/>
        </p:nvGrpSpPr>
        <p:grpSpPr>
          <a:xfrm>
            <a:off x="381815" y="3409133"/>
            <a:ext cx="5726114" cy="1005437"/>
            <a:chOff x="400125" y="2443150"/>
            <a:chExt cx="5726114" cy="1005437"/>
          </a:xfrm>
        </p:grpSpPr>
        <p:pic>
          <p:nvPicPr>
            <p:cNvPr id="105" name="Google Shape;105;p19" title="{&quot;red&quot;:89,&quot;green&quot;:89,&quot;blue&quot;:89,&quot;origURL&quot;:&quot;https://www.codecogs.com/eqnedit.php?latex=u(t)#0&quot;,&quot;size&quot;:18,&quot;width&quot;:670.9133858267717,&quot;height&quot;:175.62992125984252}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52225" y="2443150"/>
              <a:ext cx="397764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9" title="{&quot;red&quot;:89,&quot;green&quot;:89,&quot;blue&quot;:89,&quot;origURL&quot;:&quot;https://www.codecogs.com/eqnedit.php?latex=x(t)#0&quot;,&quot;size&quot;:18,&quot;width&quot;:670.9133858267717,&quot;height&quot;:175.62992125984252}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28475" y="2443150"/>
              <a:ext cx="397764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9" title="{&quot;red&quot;:89,&quot;green&quot;:89,&quot;blue&quot;:89,&quot;origURL&quot;:&quot;https://www.codecogs.com/eqnedit.php?latex=y(t)#0&quot;,&quot;size&quot;:18,&quot;width&quot;:670.9133858267717,&quot;height&quot;:175.62992125984252}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66350" y="2756550"/>
              <a:ext cx="385763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9" title="{&quot;red&quot;:89,&quot;green&quot;:89,&quot;blue&quot;:89,&quot;origURL&quot;:&quot;https://www.codecogs.com/eqnedit.php?latex=%5Cmathbf%7BA%7D#0&quot;,&quot;size&quot;:18,&quot;width&quot;:670.9133858267717,&quot;height&quot;:175.62992125984252}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00125" y="3267700"/>
              <a:ext cx="200597" cy="180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9" title="{&quot;red&quot;:89,&quot;green&quot;:89,&quot;blue&quot;:89,&quot;origURL&quot;:&quot;https://www.codecogs.com/eqnedit.php?latex=%5Cmathbf%7BB%7D#0&quot;,&quot;size&quot;:18,&quot;width&quot;:670.9133858267717,&quot;height&quot;:175.62992125984252}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37700" y="3269413"/>
              <a:ext cx="181737" cy="1765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9" title="{&quot;red&quot;:89,&quot;green&quot;:89,&quot;blue&quot;:89,&quot;origURL&quot;:&quot;https://www.codecogs.com/eqnedit.php?latex=%5Cmathbf%7BC%7D#0&quot;,&quot;size&quot;:18,&quot;width&quot;:670.9133858267717,&quot;height&quot;:175.62992125984252}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56400" y="3266850"/>
              <a:ext cx="176593" cy="181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9" title="{&quot;red&quot;:89,&quot;green&quot;:89,&quot;blue&quot;:89,&quot;origURL&quot;:&quot;https://www.codecogs.com/eqnedit.php?latex=%5Cmathbf%7BD%7D#0&quot;,&quot;size&quot;:18,&quot;width&quot;:670.9133858267717,&quot;height&quot;:175.62992125984252}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69975" y="3269413"/>
              <a:ext cx="197167" cy="1765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9"/>
          <p:cNvSpPr txBox="1"/>
          <p:nvPr/>
        </p:nvSpPr>
        <p:spPr>
          <a:xfrm>
            <a:off x="4619125" y="1145792"/>
            <a:ext cx="25950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              State variable  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Input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Output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3" name="Google Shape;113;p19"/>
          <p:cNvGrpSpPr/>
          <p:nvPr/>
        </p:nvGrpSpPr>
        <p:grpSpPr>
          <a:xfrm>
            <a:off x="4660538" y="1275292"/>
            <a:ext cx="790385" cy="1330708"/>
            <a:chOff x="4660538" y="1147225"/>
            <a:chExt cx="790385" cy="1330708"/>
          </a:xfrm>
        </p:grpSpPr>
        <p:pic>
          <p:nvPicPr>
            <p:cNvPr id="114" name="Google Shape;114;p19" title="{&quot;red&quot;:89,&quot;green&quot;:89,&quot;blue&quot;:89,&quot;origURL&quot;:&quot;https://www.codecogs.com/eqnedit.php?latex=x%5Cin%5Cmathbb%7BR%7D%5En#0&quot;,&quot;size&quot;:18,&quot;width&quot;:204.33070866141733,&quot;height&quot;:98.81102362204724}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686250" y="1147225"/>
              <a:ext cx="738950" cy="190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9" title="{&quot;red&quot;:89,&quot;green&quot;:89,&quot;blue&quot;:89,&quot;origURL&quot;:&quot;https://www.codecogs.com/eqnedit.php?latex=u%5Cin%5Cmathbb%7BR%7D%5Em#0&quot;,&quot;size&quot;:18,&quot;width&quot;:204.33070866141733,&quot;height&quot;:98.81102362204724}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660538" y="1710025"/>
              <a:ext cx="790385" cy="190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9" title="{&quot;red&quot;:89,&quot;green&quot;:89,&quot;blue&quot;:89,&quot;origURL&quot;:&quot;https://www.codecogs.com/eqnedit.php?latex=y%5Cin%5Cmathbb%7BR%7D%5Ep#0&quot;,&quot;size&quot;:18,&quot;width&quot;:204.33070866141733,&quot;height&quot;:98.81102362204724}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699963" y="2246475"/>
              <a:ext cx="711518" cy="2314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9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  <p:pic>
        <p:nvPicPr>
          <p:cNvPr id="118" name="Google Shape;118;p19" title="WPRfd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56600" y="1351275"/>
            <a:ext cx="4142762" cy="11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4947225" y="959525"/>
            <a:ext cx="11607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5">
                <a:solidFill>
                  <a:schemeClr val="dk2"/>
                </a:solidFill>
              </a:rPr>
              <a:t>RNN:</a:t>
            </a:r>
            <a:endParaRPr b="1" sz="5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 Model? (Discrete Form)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2824075"/>
            <a:ext cx="9240900" cy="22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equation is now a </a:t>
            </a:r>
            <a:r>
              <a:rPr b="1" lang="en"/>
              <a:t>sequence-to-sequence </a:t>
            </a:r>
            <a:r>
              <a:rPr lang="en"/>
              <a:t>map                instead of </a:t>
            </a:r>
            <a:r>
              <a:rPr b="1" lang="en"/>
              <a:t>function-to-function</a:t>
            </a:r>
            <a:r>
              <a:rPr lang="en"/>
              <a:t>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b="1" lang="en"/>
              <a:t>recurrent</a:t>
            </a:r>
            <a:r>
              <a:rPr lang="en"/>
              <a:t> representation allows the discrete SSM to be computed like an RNN, enabling </a:t>
            </a:r>
            <a:r>
              <a:rPr b="1" lang="en"/>
              <a:t>fast autoregressive inference.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this is still sequential in training…</a:t>
            </a:r>
            <a:endParaRPr/>
          </a:p>
        </p:txBody>
      </p:sp>
      <p:pic>
        <p:nvPicPr>
          <p:cNvPr id="126" name="Google Shape;126;p20" title="Screenshot 2026-01-14 at 16.08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25" y="1295822"/>
            <a:ext cx="9144003" cy="1250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{&quot;red&quot;:89,&quot;green&quot;:89,&quot;blue&quot;:89,&quot;origURL&quot;:&quot;https://www.codecogs.com/eqnedit.php?latex=u_k%5Cmapsto%20y_k#0&quot;,&quot;size&quot;:18,&quot;width&quot;:670.9133858267717,&quot;height&quot;:175.62992125984252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584" y="2993234"/>
            <a:ext cx="857250" cy="181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 Model? (Convolution Form)</a:t>
            </a:r>
            <a:endParaRPr/>
          </a:p>
        </p:txBody>
      </p:sp>
      <p:pic>
        <p:nvPicPr>
          <p:cNvPr id="134" name="Google Shape;134;p21" title="Screenshot 2026-01-14 at 16.22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75" y="2250856"/>
            <a:ext cx="8991601" cy="974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195875" y="1895822"/>
            <a:ext cx="77904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Unrolling the discrete form yields: (assume               )</a:t>
            </a:r>
            <a:endParaRPr/>
          </a:p>
        </p:txBody>
      </p:sp>
      <p:pic>
        <p:nvPicPr>
          <p:cNvPr id="136" name="Google Shape;136;p21" title="{&quot;red&quot;:89,&quot;green&quot;:89,&quot;blue&quot;:89,&quot;origURL&quot;:&quot;https://www.codecogs.com/eqnedit.php?latex=x_%7B-1%7D%3D0#0&quot;,&quot;size&quot;:18,&quot;width&quot;:613.4173228346457,&quot;height&quot;:36.77952755905512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275" y="2032887"/>
            <a:ext cx="829818" cy="209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Screenshot 2026-01-14 at 16.25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875" y="1017713"/>
            <a:ext cx="2244024" cy="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195875" y="3207399"/>
            <a:ext cx="77904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can be vectorized into a discrete </a:t>
            </a:r>
            <a:r>
              <a:rPr b="1" lang="en"/>
              <a:t>convolution</a:t>
            </a:r>
            <a:r>
              <a:rPr lang="en"/>
              <a:t> with kernel </a:t>
            </a:r>
            <a:endParaRPr/>
          </a:p>
        </p:txBody>
      </p:sp>
      <p:pic>
        <p:nvPicPr>
          <p:cNvPr id="139" name="Google Shape;139;p21" title="Screenshot 2026-01-14 at 16.27.1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875" y="3617056"/>
            <a:ext cx="7662249" cy="15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 title="Screenshot 2026-01-14 at 16.28.4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0248" y="3307541"/>
            <a:ext cx="268761" cy="2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2648000" y="1229250"/>
            <a:ext cx="3379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Linear Time-Invariant System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 Model? (Convolution Form)</a:t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813" r="0" t="872"/>
          <a:stretch/>
        </p:blipFill>
        <p:spPr>
          <a:xfrm>
            <a:off x="1029238" y="1124475"/>
            <a:ext cx="7085525" cy="39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State Space Model? (Convolution Form)</a:t>
            </a:r>
            <a:endParaRPr/>
          </a:p>
        </p:txBody>
      </p:sp>
      <p:pic>
        <p:nvPicPr>
          <p:cNvPr id="155" name="Google Shape;155;p23" title="Screenshot 2026-01-14 at 16.27.15.png"/>
          <p:cNvPicPr preferRelativeResize="0"/>
          <p:nvPr/>
        </p:nvPicPr>
        <p:blipFill rotWithShape="1">
          <a:blip r:embed="rId3">
            <a:alphaModFix/>
          </a:blip>
          <a:srcRect b="39896" l="0" r="0" t="0"/>
          <a:stretch/>
        </p:blipFill>
        <p:spPr>
          <a:xfrm>
            <a:off x="68825" y="1207350"/>
            <a:ext cx="9006351" cy="107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 title="Screenshot 2026-01-14 at 16.28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6023" y="2448703"/>
            <a:ext cx="268761" cy="2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11700" y="2349157"/>
            <a:ext cx="8984400" cy="27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equation can be very efficiently computed with FFTs, provided that      is known.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Complexity reduces </a:t>
            </a:r>
            <a:r>
              <a:rPr lang="en"/>
              <a:t>from</a:t>
            </a:r>
            <a:r>
              <a:rPr lang="en"/>
              <a:t>            to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Why? Because </a:t>
            </a:r>
            <a:r>
              <a:rPr b="1" lang="en"/>
              <a:t>Convolution Theorem</a:t>
            </a:r>
            <a:r>
              <a:rPr lang="en"/>
              <a:t> states that: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Convolution in the time domain is equivalent to </a:t>
            </a:r>
            <a:r>
              <a:rPr b="1" lang="en"/>
              <a:t>element-wise multiplication</a:t>
            </a:r>
            <a:r>
              <a:rPr lang="en"/>
              <a:t> (cheap) in the frequency domain, enabling </a:t>
            </a:r>
            <a:r>
              <a:rPr b="1" lang="en"/>
              <a:t>parallel training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 title="{&quot;red&quot;:89,&quot;green&quot;:89,&quot;blue&quot;:89,&quot;origURL&quot;:&quot;https://www.codecogs.com/eqnedit.php?latex=O(L%5E2)#0&quot;,&quot;size&quot;:18,&quot;width&quot;:707.4330708661417,&quot;height&quot;:36.7795275590551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4375" y="2913294"/>
            <a:ext cx="630936" cy="28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 title="{&quot;red&quot;:89,&quot;green&quot;:89,&quot;blue&quot;:89,&quot;origURL&quot;:&quot;https://www.codecogs.com/eqnedit.php?latex=O(L%5Clog%20L)#0&quot;,&quot;size&quot;:18,&quot;width&quot;:707.4330708661417,&quot;height&quot;:36.77952755905512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6009" y="2926154"/>
            <a:ext cx="1109282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r>
              <a:rPr lang="en"/>
              <a:t> Summary</a:t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6450"/>
            <a:ext cx="8839204" cy="317227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0" y="0"/>
            <a:ext cx="1160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Background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ctrTitle"/>
          </p:nvPr>
        </p:nvSpPr>
        <p:spPr>
          <a:xfrm>
            <a:off x="311700" y="1181475"/>
            <a:ext cx="8520600" cy="20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State Space Models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5">
                <a:solidFill>
                  <a:schemeClr val="dk2"/>
                </a:solidFill>
              </a:rPr>
              <a:t>S4: </a:t>
            </a:r>
            <a:r>
              <a:rPr b="1" lang="en" sz="2955">
                <a:solidFill>
                  <a:schemeClr val="dk2"/>
                </a:solidFill>
              </a:rPr>
              <a:t>S</a:t>
            </a:r>
            <a:r>
              <a:rPr lang="en" sz="2955">
                <a:solidFill>
                  <a:schemeClr val="dk2"/>
                </a:solidFill>
              </a:rPr>
              <a:t>tructured </a:t>
            </a:r>
            <a:r>
              <a:rPr b="1" lang="en" sz="2955">
                <a:solidFill>
                  <a:schemeClr val="dk2"/>
                </a:solidFill>
              </a:rPr>
              <a:t>S</a:t>
            </a:r>
            <a:r>
              <a:rPr lang="en" sz="2955">
                <a:solidFill>
                  <a:schemeClr val="dk2"/>
                </a:solidFill>
              </a:rPr>
              <a:t>tate </a:t>
            </a:r>
            <a:r>
              <a:rPr b="1" lang="en" sz="2955">
                <a:solidFill>
                  <a:schemeClr val="dk2"/>
                </a:solidFill>
              </a:rPr>
              <a:t>S</a:t>
            </a:r>
            <a:r>
              <a:rPr lang="en" sz="2955">
                <a:solidFill>
                  <a:schemeClr val="dk2"/>
                </a:solidFill>
              </a:rPr>
              <a:t>pace </a:t>
            </a:r>
            <a:r>
              <a:rPr b="1" lang="en" sz="2955">
                <a:solidFill>
                  <a:schemeClr val="dk2"/>
                </a:solidFill>
              </a:rPr>
              <a:t>S</a:t>
            </a:r>
            <a:r>
              <a:rPr lang="en" sz="2955">
                <a:solidFill>
                  <a:schemeClr val="dk2"/>
                </a:solidFill>
              </a:rPr>
              <a:t>equence model</a:t>
            </a:r>
            <a:endParaRPr sz="6100"/>
          </a:p>
        </p:txBody>
      </p:sp>
      <p:sp>
        <p:nvSpPr>
          <p:cNvPr id="173" name="Google Shape;173;p25"/>
          <p:cNvSpPr txBox="1"/>
          <p:nvPr>
            <p:ph idx="1" type="subTitle"/>
          </p:nvPr>
        </p:nvSpPr>
        <p:spPr>
          <a:xfrm>
            <a:off x="311700" y="4212975"/>
            <a:ext cx="8520600" cy="11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Reference:</a:t>
            </a:r>
            <a:endParaRPr sz="2000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Gu et al., "Efficiently modeling long sequences with structured state spaces" (2021).</a:t>
            </a:r>
            <a:endParaRPr sz="1355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Gu et al., "Hippo: Recurrent memory with optimal polynomial projections." (2020)</a:t>
            </a:r>
            <a:endParaRPr sz="1355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Importance of matrix </a:t>
            </a:r>
            <a:endParaRPr/>
          </a:p>
        </p:txBody>
      </p:sp>
      <p:pic>
        <p:nvPicPr>
          <p:cNvPr id="179" name="Google Shape;179;p26" title="Screenshot 2026-01-14 at 17.19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682" y="445027"/>
            <a:ext cx="514075" cy="4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152475"/>
            <a:ext cx="87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captures information about the previous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builds the new hidden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However…, linear first-order ODEs have solutions involving the exponential function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Gradient scales exponentially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eigenvalues slightly smaller than 0, signal vanishes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</a:t>
            </a:r>
            <a:r>
              <a:rPr lang="en"/>
              <a:t>eigenvalues</a:t>
            </a:r>
            <a:r>
              <a:rPr lang="en"/>
              <a:t> slightly larger than 0, signal explodes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Unable to model long-range dependencies</a:t>
            </a:r>
            <a:endParaRPr/>
          </a:p>
        </p:txBody>
      </p:sp>
      <p:pic>
        <p:nvPicPr>
          <p:cNvPr id="181" name="Google Shape;181;p26" title="Screenshot 2026-01-14 at 16.25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HiPPO theory - Design       Smartly </a:t>
            </a:r>
            <a:endParaRPr/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HiPPO stands for </a:t>
            </a:r>
            <a:r>
              <a:rPr b="1" lang="en"/>
              <a:t>Hi</a:t>
            </a:r>
            <a:r>
              <a:rPr lang="en"/>
              <a:t>gh-order </a:t>
            </a:r>
            <a:r>
              <a:rPr b="1" lang="en"/>
              <a:t>P</a:t>
            </a:r>
            <a:r>
              <a:rPr lang="en"/>
              <a:t>olynomial </a:t>
            </a:r>
            <a:r>
              <a:rPr b="1" lang="en"/>
              <a:t>P</a:t>
            </a:r>
            <a:r>
              <a:rPr lang="en"/>
              <a:t>rojection </a:t>
            </a:r>
            <a:r>
              <a:rPr b="1" lang="en"/>
              <a:t>O</a:t>
            </a:r>
            <a:r>
              <a:rPr lang="en"/>
              <a:t>perators.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the state      to memorize the history of the inputs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7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50" y="2370800"/>
            <a:ext cx="7973076" cy="260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 title="Screenshot 2026-01-14 at 17.1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0135" y="455496"/>
            <a:ext cx="514075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 title="{&quot;red&quot;:89,&quot;green&quot;:89,&quot;blue&quot;:89,&quot;origURL&quot;:&quot;https://www.codecogs.com/eqnedit.php?latex=x_t#0&quot;,&quot;size&quot;:18,&quot;width&quot;:670.9133858267717,&quot;height&quot;:269.00787401574803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5325" y="1792950"/>
            <a:ext cx="195453" cy="15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{&quot;red&quot;:89,&quot;green&quot;:89,&quot;blue&quot;:89,&quot;origURL&quot;:&quot;https://www.codecogs.com/eqnedit.php?latex=u_t#0&quot;,&quot;size&quot;:18,&quot;width&quot;:670.9133858267717,&quot;height&quot;:269.00787401574803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3439" y="1792950"/>
            <a:ext cx="195453" cy="15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HiPPO theory - Design       Smartly 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8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135" y="455496"/>
            <a:ext cx="514075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/>
          <p:cNvPicPr preferRelativeResize="0"/>
          <p:nvPr/>
        </p:nvPicPr>
        <p:blipFill rotWithShape="1">
          <a:blip r:embed="rId5">
            <a:alphaModFix/>
          </a:blip>
          <a:srcRect b="0" l="29131" r="30457" t="0"/>
          <a:stretch/>
        </p:blipFill>
        <p:spPr>
          <a:xfrm>
            <a:off x="6221925" y="1025229"/>
            <a:ext cx="2659651" cy="324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0325" y="1969967"/>
            <a:ext cx="5867848" cy="146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311700" y="4406025"/>
            <a:ext cx="796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Aims to optimally compress the input history signal into a fixed-size vector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HiPPO theory - Design       Smartly </a:t>
            </a:r>
            <a:endParaRPr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31170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HiPPO matrix treats the state variables as coefficients of </a:t>
            </a:r>
            <a:r>
              <a:rPr lang="en"/>
              <a:t>Legendre</a:t>
            </a:r>
            <a:r>
              <a:rPr lang="en"/>
              <a:t> polynomials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9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135" y="455496"/>
            <a:ext cx="514075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4477" y="1557775"/>
            <a:ext cx="6738424" cy="33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0" y="4885250"/>
            <a:ext cx="5460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Reference: https://srush.github.io/annotated-s4/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HiPPO theory - Design       Smartly 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1152475"/>
            <a:ext cx="87618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Takeaway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S4, HiPPO is used to initialize </a:t>
            </a:r>
            <a:r>
              <a:rPr lang="en"/>
              <a:t>matrix       in</a:t>
            </a:r>
            <a:r>
              <a:rPr lang="en"/>
              <a:t> the state-space model. It ensures the model starts with the mathematical capability to memorize the input's history optimally.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single design boosts accuracy on sequential MNIST from 60% to 98%</a:t>
            </a:r>
            <a:endParaRPr/>
          </a:p>
        </p:txBody>
      </p:sp>
      <p:pic>
        <p:nvPicPr>
          <p:cNvPr id="224" name="Google Shape;224;p30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135" y="455496"/>
            <a:ext cx="514075" cy="4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4127" y="2648973"/>
            <a:ext cx="282200" cy="25781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Diagonalization of 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11700" y="2600949"/>
            <a:ext cx="8761800" cy="26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Computing naively involves </a:t>
            </a:r>
            <a:r>
              <a:rPr b="1" i="1" lang="en"/>
              <a:t>L </a:t>
            </a:r>
            <a:r>
              <a:rPr lang="en"/>
              <a:t>successive multiplication by      ,                complexity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1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1" title="Screenshot 2026-01-14 at 16.27.15.png"/>
          <p:cNvPicPr preferRelativeResize="0"/>
          <p:nvPr/>
        </p:nvPicPr>
        <p:blipFill rotWithShape="1">
          <a:blip r:embed="rId4">
            <a:alphaModFix/>
          </a:blip>
          <a:srcRect b="39896" l="0" r="0" t="0"/>
          <a:stretch/>
        </p:blipFill>
        <p:spPr>
          <a:xfrm>
            <a:off x="68825" y="919950"/>
            <a:ext cx="9006351" cy="107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 title="Screenshot 2026-01-14 at 17.1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424" y="3139947"/>
            <a:ext cx="315625" cy="2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 title="{&quot;red&quot;:89,&quot;green&quot;:89,&quot;blue&quot;:89,&quot;origURL&quot;:&quot;https://www.codecogs.com/eqnedit.php?latex=O(N%5E2L)#0&quot;,&quot;size&quot;:18,&quot;width&quot;:689.9055118110235,&quot;height&quot;:211.039370078740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7514" y="3170033"/>
            <a:ext cx="857250" cy="28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 title="Screenshot 2026-01-14 at 17.1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9130" y="533511"/>
            <a:ext cx="394700" cy="3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Diagonalization of</a:t>
            </a:r>
            <a:endParaRPr/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176100" y="1650450"/>
            <a:ext cx="8897400" cy="3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Suppose</a:t>
            </a:r>
            <a:r>
              <a:rPr lang="en"/>
              <a:t> we could diagonalize      (assume      and      are vectors for single input):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, where     denotes a diagonal matrix </a:t>
            </a:r>
            <a:r>
              <a:rPr lang="en"/>
              <a:t>containing</a:t>
            </a:r>
            <a:r>
              <a:rPr lang="en"/>
              <a:t> the</a:t>
            </a:r>
            <a:r>
              <a:rPr lang="en"/>
              <a:t> eigenvalues</a:t>
            </a:r>
            <a:r>
              <a:rPr lang="en"/>
              <a:t> of     .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2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004" y="1721413"/>
            <a:ext cx="315625" cy="2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 title="Screenshot 2026-01-14 at 16.27.15.png"/>
          <p:cNvPicPr preferRelativeResize="0"/>
          <p:nvPr/>
        </p:nvPicPr>
        <p:blipFill rotWithShape="1">
          <a:blip r:embed="rId5">
            <a:alphaModFix/>
          </a:blip>
          <a:srcRect b="0" l="0" r="0" t="62482"/>
          <a:stretch/>
        </p:blipFill>
        <p:spPr>
          <a:xfrm>
            <a:off x="740875" y="1120790"/>
            <a:ext cx="766224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2" title="Screenshot 2026-01-14 at 21.26.3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045" y="2645025"/>
            <a:ext cx="1603176" cy="3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2" title="Screenshot 2026-01-14 at 21.27.1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6825" y="1730797"/>
            <a:ext cx="293175" cy="2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 title="Screenshot 2026-01-14 at 21.27.30.png"/>
          <p:cNvPicPr preferRelativeResize="0"/>
          <p:nvPr/>
        </p:nvPicPr>
        <p:blipFill rotWithShape="1">
          <a:blip r:embed="rId8">
            <a:alphaModFix/>
          </a:blip>
          <a:srcRect b="0" l="0" r="1845" t="0"/>
          <a:stretch/>
        </p:blipFill>
        <p:spPr>
          <a:xfrm>
            <a:off x="5456466" y="1739000"/>
            <a:ext cx="276850" cy="2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2" title="Screenshot 2026-01-14 at 21.26.33.png"/>
          <p:cNvPicPr preferRelativeResize="0"/>
          <p:nvPr/>
        </p:nvPicPr>
        <p:blipFill rotWithShape="1">
          <a:blip r:embed="rId6">
            <a:alphaModFix/>
          </a:blip>
          <a:srcRect b="0" l="53958" r="32330" t="0"/>
          <a:stretch/>
        </p:blipFill>
        <p:spPr>
          <a:xfrm>
            <a:off x="2658009" y="2645036"/>
            <a:ext cx="219799" cy="3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2" title="Screenshot 2026-01-14 at 21.26.33.png"/>
          <p:cNvPicPr preferRelativeResize="0"/>
          <p:nvPr/>
        </p:nvPicPr>
        <p:blipFill rotWithShape="1">
          <a:blip r:embed="rId6">
            <a:alphaModFix/>
          </a:blip>
          <a:srcRect b="0" l="0" r="82731" t="0"/>
          <a:stretch/>
        </p:blipFill>
        <p:spPr>
          <a:xfrm>
            <a:off x="8584172" y="2645025"/>
            <a:ext cx="276850" cy="3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9130" y="533511"/>
            <a:ext cx="394700" cy="3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Diagonalization of</a:t>
            </a:r>
            <a:endParaRPr/>
          </a:p>
        </p:txBody>
      </p:sp>
      <p:pic>
        <p:nvPicPr>
          <p:cNvPr id="261" name="Google Shape;261;p33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 title="Screenshot 2026-01-14 at 16.27.15.png"/>
          <p:cNvPicPr preferRelativeResize="0"/>
          <p:nvPr/>
        </p:nvPicPr>
        <p:blipFill rotWithShape="1">
          <a:blip r:embed="rId4">
            <a:alphaModFix/>
          </a:blip>
          <a:srcRect b="0" l="0" r="0" t="62482"/>
          <a:stretch/>
        </p:blipFill>
        <p:spPr>
          <a:xfrm>
            <a:off x="740875" y="1120790"/>
            <a:ext cx="766224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 title="Screenshot 2026-01-14 at 21.14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175" y="2127970"/>
            <a:ext cx="6936827" cy="24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 title="{&quot;red&quot;:89,&quot;green&quot;:89,&quot;blue&quot;:89,&quot;origURL&quot;:&quot;https://www.codecogs.com/eqnedit.php?latex=O((N%2BL)%5Clog%5E2(N%2BL))#0&quot;,&quot;size&quot;:18,&quot;width&quot;:689.9055118110236,&quot;height&quot;:275.0314960629921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9988" y="4672409"/>
            <a:ext cx="2244023" cy="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176100" y="1648875"/>
            <a:ext cx="88974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Suppose</a:t>
            </a:r>
            <a:r>
              <a:rPr lang="en"/>
              <a:t> we could diagonalize      (assume      and      are vectors for single input):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,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Vandermonde product enjoys                                          complexity.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3" title="Screenshot 2026-01-14 at 17.19.2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5004" y="1721413"/>
            <a:ext cx="315625" cy="2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3" title="Screenshot 2026-01-14 at 21.27.1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6825" y="1730797"/>
            <a:ext cx="293175" cy="2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3" title="Screenshot 2026-01-14 at 21.27.30.png"/>
          <p:cNvPicPr preferRelativeResize="0"/>
          <p:nvPr/>
        </p:nvPicPr>
        <p:blipFill rotWithShape="1">
          <a:blip r:embed="rId9">
            <a:alphaModFix/>
          </a:blip>
          <a:srcRect b="0" l="0" r="1845" t="0"/>
          <a:stretch/>
        </p:blipFill>
        <p:spPr>
          <a:xfrm>
            <a:off x="5456466" y="1739000"/>
            <a:ext cx="276850" cy="2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 title="Screenshot 2026-01-14 at 17.19.2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9130" y="533511"/>
            <a:ext cx="394700" cy="3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Diagonalization of</a:t>
            </a:r>
            <a:endParaRPr/>
          </a:p>
        </p:txBody>
      </p:sp>
      <p:pic>
        <p:nvPicPr>
          <p:cNvPr id="276" name="Google Shape;276;p34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133500" y="1144475"/>
            <a:ext cx="896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However</a:t>
            </a:r>
            <a:r>
              <a:rPr lang="en"/>
              <a:t>, the </a:t>
            </a:r>
            <a:r>
              <a:rPr lang="en"/>
              <a:t>diagonalization</a:t>
            </a:r>
            <a:r>
              <a:rPr lang="en"/>
              <a:t> of HiPPO matrix has entries exponentially large (         ), which renders numerical instability.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But, the HiPPO matrix can be decomposed into a </a:t>
            </a:r>
            <a:r>
              <a:rPr b="1" lang="en"/>
              <a:t>normal matrix + a low rank matrix (NPLR)</a:t>
            </a:r>
            <a:r>
              <a:rPr lang="en"/>
              <a:t>. Instead of computing directly the powers of      in the time domain, the authors calculate the </a:t>
            </a:r>
            <a:r>
              <a:rPr b="1" lang="en"/>
              <a:t>generating function</a:t>
            </a:r>
            <a:r>
              <a:rPr lang="en"/>
              <a:t> of kernel and evaluate the function at </a:t>
            </a:r>
            <a:r>
              <a:rPr b="1" lang="en"/>
              <a:t>roots of unity</a:t>
            </a:r>
            <a:r>
              <a:rPr lang="en"/>
              <a:t>. Then the kernel can be found by </a:t>
            </a:r>
            <a:r>
              <a:rPr lang="en"/>
              <a:t>applying</a:t>
            </a:r>
            <a:r>
              <a:rPr lang="en"/>
              <a:t> an </a:t>
            </a:r>
            <a:r>
              <a:rPr b="1" lang="en"/>
              <a:t>inverse FFT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34" title="{&quot;red&quot;:89,&quot;green&quot;:89,&quot;blue&quot;:89,&quot;origURL&quot;:&quot;https://www.codecogs.com/eqnedit.php?latex=2%5E%7B4N%2F3%7D#0&quot;,&quot;size&quot;:18,&quot;width&quot;:689.9055118110236,&quot;height&quot;:269.0078740157480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900" y="1256542"/>
            <a:ext cx="526351" cy="233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 title="Screenshot 2026-01-14 at 17.1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9130" y="533511"/>
            <a:ext cx="394700" cy="3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 title="Screenshot 2026-01-14 at 17.19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4725" y="2773571"/>
            <a:ext cx="322325" cy="2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Diagonalization of</a:t>
            </a:r>
            <a:endParaRPr/>
          </a:p>
        </p:txBody>
      </p:sp>
      <p:pic>
        <p:nvPicPr>
          <p:cNvPr id="287" name="Google Shape;287;p35" title="Screenshot 2026-01-14 at 16.2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975" y="-12"/>
            <a:ext cx="2244024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5" title="Screenshot 2026-01-14 at 17.1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9130" y="533511"/>
            <a:ext cx="394700" cy="3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5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Takeaway: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Despite not being normal, HiPPO matrix is </a:t>
            </a:r>
            <a:r>
              <a:rPr b="1" lang="en"/>
              <a:t>NPLR</a:t>
            </a:r>
            <a:r>
              <a:rPr lang="en"/>
              <a:t>, and authors prove that there is a nice and efficient way to compute the </a:t>
            </a:r>
            <a:r>
              <a:rPr lang="en"/>
              <a:t>kernel</a:t>
            </a:r>
            <a:r>
              <a:rPr lang="en"/>
              <a:t>      from </a:t>
            </a:r>
            <a:r>
              <a:rPr b="1" lang="en"/>
              <a:t>NPLR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35" title="Screenshot 2026-01-14 at 22.51.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5383" y="2969562"/>
            <a:ext cx="285550" cy="2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5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6" title="Screenshot 2026-01-14 at 23.16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3838"/>
            <a:ext cx="8839204" cy="277951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/>
        </p:nvSpPr>
        <p:spPr>
          <a:xfrm>
            <a:off x="152400" y="4178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This ends S4!</a:t>
            </a:r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0" y="0"/>
            <a:ext cx="3377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S4: Structured State Space Sequence model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ctrTitle"/>
          </p:nvPr>
        </p:nvSpPr>
        <p:spPr>
          <a:xfrm>
            <a:off x="311700" y="1181475"/>
            <a:ext cx="8520600" cy="20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State Space Models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55">
                <a:solidFill>
                  <a:schemeClr val="dk2"/>
                </a:solidFill>
              </a:rPr>
              <a:t>Mamba: Selective State Space model</a:t>
            </a:r>
            <a:endParaRPr sz="6100"/>
          </a:p>
        </p:txBody>
      </p:sp>
      <p:sp>
        <p:nvSpPr>
          <p:cNvPr id="304" name="Google Shape;304;p37"/>
          <p:cNvSpPr txBox="1"/>
          <p:nvPr>
            <p:ph idx="1" type="subTitle"/>
          </p:nvPr>
        </p:nvSpPr>
        <p:spPr>
          <a:xfrm>
            <a:off x="311700" y="4212975"/>
            <a:ext cx="8520600" cy="11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Reference:</a:t>
            </a:r>
            <a:endParaRPr sz="1355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Gu et al., “Mamba: Linear-time sequence modeling with selective state spaces” (2024).</a:t>
            </a:r>
            <a:endParaRPr sz="1355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</p:txBody>
      </p:sp>
      <p:pic>
        <p:nvPicPr>
          <p:cNvPr id="305" name="Google Shape;305;p37" title="89fbbc95-d92f-49f4-833b-cfa37b3f0644_1148x892.png"/>
          <p:cNvPicPr preferRelativeResize="0"/>
          <p:nvPr/>
        </p:nvPicPr>
        <p:blipFill rotWithShape="1">
          <a:blip r:embed="rId3">
            <a:alphaModFix/>
          </a:blip>
          <a:srcRect b="56799" l="22675" r="20734" t="22612"/>
          <a:stretch/>
        </p:blipFill>
        <p:spPr>
          <a:xfrm>
            <a:off x="3607500" y="546699"/>
            <a:ext cx="1928999" cy="5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/>
        </p:nvSpPr>
        <p:spPr>
          <a:xfrm>
            <a:off x="59250" y="2571750"/>
            <a:ext cx="90255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S6: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elective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can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tructured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tate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pace </a:t>
            </a:r>
            <a:r>
              <a:rPr b="1" lang="en" sz="2955">
                <a:solidFill>
                  <a:schemeClr val="dk2"/>
                </a:solidFill>
                <a:highlight>
                  <a:schemeClr val="lt1"/>
                </a:highlight>
              </a:rPr>
              <a:t>S</a:t>
            </a:r>
            <a:r>
              <a:rPr lang="en" sz="2955">
                <a:solidFill>
                  <a:schemeClr val="dk2"/>
                </a:solidFill>
                <a:highlight>
                  <a:schemeClr val="lt1"/>
                </a:highlight>
              </a:rPr>
              <a:t>equence Model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 with S4?</a:t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Linear time-invariant(LTI) is the reason why LTI SSMs enjoys recurrence and convolution properties.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S4 is a linear time-invariant(LTI) SSM.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Parameter     ,</a:t>
            </a:r>
            <a:r>
              <a:rPr lang="en"/>
              <a:t> </a:t>
            </a:r>
            <a:r>
              <a:rPr lang="en"/>
              <a:t>      and      are time-invariant, thus LTI SSM lacks the ability to </a:t>
            </a:r>
            <a:r>
              <a:rPr b="1" lang="en"/>
              <a:t>focus on</a:t>
            </a:r>
            <a:r>
              <a:rPr lang="en"/>
              <a:t> or </a:t>
            </a:r>
            <a:r>
              <a:rPr b="1" lang="en"/>
              <a:t>ignore</a:t>
            </a:r>
            <a:r>
              <a:rPr lang="en"/>
              <a:t> particular inputs</a:t>
            </a:r>
            <a:endParaRPr/>
          </a:p>
        </p:txBody>
      </p:sp>
      <p:pic>
        <p:nvPicPr>
          <p:cNvPr id="313" name="Google Shape;313;p38" title="Screenshot 2026-01-14 at 17.19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818" y="3921641"/>
            <a:ext cx="282200" cy="25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8" title="Screenshot 2026-01-14 at 21.27.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5617" y="3918072"/>
            <a:ext cx="271450" cy="2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8" title="Screenshot 2026-01-14 at 21.27.30.png"/>
          <p:cNvPicPr preferRelativeResize="0"/>
          <p:nvPr/>
        </p:nvPicPr>
        <p:blipFill rotWithShape="1">
          <a:blip r:embed="rId5">
            <a:alphaModFix/>
          </a:blip>
          <a:srcRect b="0" l="0" r="1845" t="0"/>
          <a:stretch/>
        </p:blipFill>
        <p:spPr>
          <a:xfrm>
            <a:off x="3183292" y="3934272"/>
            <a:ext cx="242225" cy="2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8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as a Means of Compression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23" name="Google Shape;323;p39" title="Screenshot 2026-01-14 at 23.40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800" y="3179733"/>
            <a:ext cx="6998400" cy="1896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Screenshot 2026-01-14 at 23.46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025" y="1179250"/>
            <a:ext cx="7065943" cy="183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as a Means of Compression</a:t>
            </a:r>
            <a:endParaRPr/>
          </a:p>
        </p:txBody>
      </p:sp>
      <p:sp>
        <p:nvSpPr>
          <p:cNvPr id="330" name="Google Shape;330;p40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31" name="Google Shape;331;p40" title="Screenshot 2026-01-14 at 23.5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13" y="1824138"/>
            <a:ext cx="7811773" cy="14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as a Means of Compression</a:t>
            </a:r>
            <a:endParaRPr/>
          </a:p>
        </p:txBody>
      </p:sp>
      <p:sp>
        <p:nvSpPr>
          <p:cNvPr id="337" name="Google Shape;337;p41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213450" y="3978100"/>
            <a:ext cx="8717100" cy="9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A fundamental principle of building sequence models is </a:t>
            </a:r>
            <a:r>
              <a:rPr b="1" lang="en" sz="2000"/>
              <a:t>selectivity.</a:t>
            </a:r>
            <a:endParaRPr b="1" sz="2000"/>
          </a:p>
        </p:txBody>
      </p:sp>
      <p:pic>
        <p:nvPicPr>
          <p:cNvPr id="339" name="Google Shape;3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55" y="1264625"/>
            <a:ext cx="8186490" cy="24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S4 vs. S6</a:t>
            </a:r>
            <a:endParaRPr/>
          </a:p>
        </p:txBody>
      </p:sp>
      <p:sp>
        <p:nvSpPr>
          <p:cNvPr id="345" name="Google Shape;345;p42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46" name="Google Shape;346;p42" title="Screenshot 2026-01-14 at 23.55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6250"/>
            <a:ext cx="8839204" cy="264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</a:t>
            </a:r>
            <a:r>
              <a:rPr lang="en"/>
              <a:t>variant</a:t>
            </a:r>
            <a:r>
              <a:rPr lang="en"/>
              <a:t> at What Cost?</a:t>
            </a:r>
            <a:endParaRPr/>
          </a:p>
        </p:txBody>
      </p:sp>
      <p:sp>
        <p:nvSpPr>
          <p:cNvPr id="352" name="Google Shape;352;p43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Mamba moves from LTI system to a </a:t>
            </a:r>
            <a:r>
              <a:rPr b="1" lang="en"/>
              <a:t>time-variant system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Parameters are now </a:t>
            </a:r>
            <a:r>
              <a:rPr i="1" lang="en"/>
              <a:t>dynamic</a:t>
            </a:r>
            <a:r>
              <a:rPr lang="en"/>
              <a:t>, meaning they cannot be represented as convolution, and thus </a:t>
            </a:r>
            <a:r>
              <a:rPr b="1" lang="en"/>
              <a:t>lost parallelization</a:t>
            </a:r>
            <a:r>
              <a:rPr lang="en"/>
              <a:t>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Parallel Scan</a:t>
            </a:r>
            <a:r>
              <a:rPr lang="en"/>
              <a:t> comes to rescue</a:t>
            </a:r>
            <a:endParaRPr/>
          </a:p>
        </p:txBody>
      </p:sp>
      <p:sp>
        <p:nvSpPr>
          <p:cNvPr id="353" name="Google Shape;353;p43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Scan</a:t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60" name="Google Shape;360;p44" title="Screenshot 2026-01-15 at 01.1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055" y="786650"/>
            <a:ext cx="4602102" cy="224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4" title="Screenshot 2026-01-15 at 01.18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3825" y="3155100"/>
            <a:ext cx="4898550" cy="18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311700" y="1152475"/>
            <a:ext cx="37143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Thankfully, </a:t>
            </a:r>
            <a:r>
              <a:rPr lang="en"/>
              <a:t>SSMs</a:t>
            </a:r>
            <a:r>
              <a:rPr lang="en"/>
              <a:t> are </a:t>
            </a:r>
            <a:r>
              <a:rPr b="1" lang="en"/>
              <a:t>associative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Mamba leverages GPU friendly </a:t>
            </a:r>
            <a:r>
              <a:rPr b="1" lang="en"/>
              <a:t>parallel scan</a:t>
            </a:r>
            <a:r>
              <a:rPr lang="en"/>
              <a:t> to make parallelizable </a:t>
            </a:r>
            <a:r>
              <a:rPr lang="en"/>
              <a:t>training</a:t>
            </a:r>
            <a:r>
              <a:rPr lang="en"/>
              <a:t> happen.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Scan</a:t>
            </a:r>
            <a:endParaRPr/>
          </a:p>
        </p:txBody>
      </p:sp>
      <p:sp>
        <p:nvSpPr>
          <p:cNvPr id="368" name="Google Shape;368;p45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69" name="Google Shape;369;p45" title="Screenshot 2026-01-15 at 01.40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313" y="1017713"/>
            <a:ext cx="595536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Scan</a:t>
            </a:r>
            <a:endParaRPr/>
          </a:p>
        </p:txBody>
      </p:sp>
      <p:sp>
        <p:nvSpPr>
          <p:cNvPr id="375" name="Google Shape;375;p46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76" name="Google Shape;376;p46" title="Screenshot 2026-01-15 at 01.45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650" y="492050"/>
            <a:ext cx="6411049" cy="453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Hardware-aware Algorithm</a:t>
            </a:r>
            <a:endParaRPr/>
          </a:p>
        </p:txBody>
      </p:sp>
      <p:sp>
        <p:nvSpPr>
          <p:cNvPr id="382" name="Google Shape;382;p47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but highly efficient </a:t>
            </a:r>
            <a:r>
              <a:rPr b="1" lang="en"/>
              <a:t>SRAM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Large but less efficient </a:t>
            </a:r>
            <a:r>
              <a:rPr b="1" lang="en"/>
              <a:t>DRAM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Frequently copying between </a:t>
            </a:r>
            <a:r>
              <a:rPr b="1" lang="en"/>
              <a:t>SRAM </a:t>
            </a:r>
            <a:r>
              <a:rPr lang="en"/>
              <a:t>and </a:t>
            </a:r>
            <a:r>
              <a:rPr b="1" lang="en"/>
              <a:t>DRAM</a:t>
            </a:r>
            <a:r>
              <a:rPr lang="en"/>
              <a:t> is the bottleneck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Mamba uses </a:t>
            </a:r>
            <a:r>
              <a:rPr b="1" lang="en"/>
              <a:t>kernel fusion</a:t>
            </a:r>
            <a:r>
              <a:rPr lang="en"/>
              <a:t> to prevent writing intermediate result into </a:t>
            </a:r>
            <a:r>
              <a:rPr b="1" lang="en"/>
              <a:t>DRAM</a:t>
            </a:r>
            <a:endParaRPr/>
          </a:p>
        </p:txBody>
      </p:sp>
      <p:sp>
        <p:nvSpPr>
          <p:cNvPr id="383" name="Google Shape;383;p47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89" name="Google Shape;389;p48"/>
          <p:cNvSpPr txBox="1"/>
          <p:nvPr/>
        </p:nvSpPr>
        <p:spPr>
          <a:xfrm>
            <a:off x="0" y="0"/>
            <a:ext cx="2961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Mamba: Selective State Space model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390" name="Google Shape;390;p48" title="Screenshot 2026-01-15 at 01.52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6150"/>
            <a:ext cx="8839204" cy="268887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/>
        </p:nvSpPr>
        <p:spPr>
          <a:xfrm>
            <a:off x="152400" y="4178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This ends Mamba!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type="ctrTitle"/>
          </p:nvPr>
        </p:nvSpPr>
        <p:spPr>
          <a:xfrm>
            <a:off x="311700" y="1181475"/>
            <a:ext cx="8520600" cy="20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SSM Applications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5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55">
                <a:solidFill>
                  <a:schemeClr val="dk2"/>
                </a:solidFill>
              </a:rPr>
              <a:t>in Event vision</a:t>
            </a:r>
            <a:endParaRPr sz="6100"/>
          </a:p>
        </p:txBody>
      </p:sp>
      <p:sp>
        <p:nvSpPr>
          <p:cNvPr id="397" name="Google Shape;397;p49"/>
          <p:cNvSpPr txBox="1"/>
          <p:nvPr>
            <p:ph idx="1" type="subTitle"/>
          </p:nvPr>
        </p:nvSpPr>
        <p:spPr>
          <a:xfrm>
            <a:off x="311700" y="4066125"/>
            <a:ext cx="8520600" cy="12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Reference:</a:t>
            </a:r>
            <a:endParaRPr sz="1355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Zubic et al. "State space models for event cameras." (2024)</a:t>
            </a:r>
            <a:endParaRPr sz="1355"/>
          </a:p>
          <a:p>
            <a:pPr indent="-314685" lvl="0" marL="457200" rtl="0" algn="l">
              <a:spcBef>
                <a:spcPts val="0"/>
              </a:spcBef>
              <a:spcAft>
                <a:spcPts val="0"/>
              </a:spcAft>
              <a:buSzPts val="1356"/>
              <a:buChar char="-"/>
            </a:pPr>
            <a:r>
              <a:rPr lang="en" sz="1355"/>
              <a:t>Ren et al. "Rethinking efficient and effective point-based networks for event camera classification and regression: EventMamba." (2024)</a:t>
            </a:r>
            <a:endParaRPr sz="1355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03" name="Google Shape;403;p50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State space models can be transformed into discrete-time system with </a:t>
            </a:r>
            <a:r>
              <a:rPr b="1" lang="en"/>
              <a:t>arbitrary step size.</a:t>
            </a:r>
            <a:endParaRPr b="1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permits inference at arbitrary </a:t>
            </a:r>
            <a:r>
              <a:rPr lang="en"/>
              <a:t>frequencies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event-based vision to </a:t>
            </a:r>
            <a:r>
              <a:rPr b="1" lang="en"/>
              <a:t>deploy at a different frequency</a:t>
            </a:r>
            <a:r>
              <a:rPr lang="en"/>
              <a:t> from what it’s trained on during inference.</a:t>
            </a:r>
            <a:endParaRPr/>
          </a:p>
        </p:txBody>
      </p:sp>
      <p:sp>
        <p:nvSpPr>
          <p:cNvPr id="404" name="Google Shape;404;p50"/>
          <p:cNvSpPr txBox="1"/>
          <p:nvPr/>
        </p:nvSpPr>
        <p:spPr>
          <a:xfrm>
            <a:off x="0" y="0"/>
            <a:ext cx="3273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"State space models for event cameras"</a:t>
            </a:r>
            <a:endParaRPr sz="125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10" name="Google Shape;410;p51"/>
          <p:cNvSpPr txBox="1"/>
          <p:nvPr/>
        </p:nvSpPr>
        <p:spPr>
          <a:xfrm>
            <a:off x="0" y="0"/>
            <a:ext cx="3273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"State space models for event cameras"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411" name="Google Shape;411;p51" title="Screenshot 2026-01-15 at 02.23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050" y="1152627"/>
            <a:ext cx="7185900" cy="29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Low-pass Filter on </a:t>
            </a:r>
            <a:endParaRPr/>
          </a:p>
        </p:txBody>
      </p:sp>
      <p:sp>
        <p:nvSpPr>
          <p:cNvPr id="417" name="Google Shape;417;p52"/>
          <p:cNvSpPr txBox="1"/>
          <p:nvPr/>
        </p:nvSpPr>
        <p:spPr>
          <a:xfrm>
            <a:off x="0" y="0"/>
            <a:ext cx="3273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"State space models for event cameras"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418" name="Google Shape;418;p52" title="Screenshot 2026-01-14 at 21.27.30.png"/>
          <p:cNvPicPr preferRelativeResize="0"/>
          <p:nvPr/>
        </p:nvPicPr>
        <p:blipFill rotWithShape="1">
          <a:blip r:embed="rId3">
            <a:alphaModFix/>
          </a:blip>
          <a:srcRect b="0" l="0" r="1845" t="0"/>
          <a:stretch/>
        </p:blipFill>
        <p:spPr>
          <a:xfrm>
            <a:off x="3111250" y="569475"/>
            <a:ext cx="332516" cy="32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2"/>
          <p:cNvSpPr txBox="1"/>
          <p:nvPr>
            <p:ph idx="1" type="body"/>
          </p:nvPr>
        </p:nvSpPr>
        <p:spPr>
          <a:xfrm>
            <a:off x="311700" y="1152475"/>
            <a:ext cx="87171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states might be oscillating extremely fast. Frequency higher than the Nyquist frequency causes aliasing.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Solution</a:t>
            </a:r>
            <a:r>
              <a:rPr lang="en"/>
              <a:t>:  mask     to kill states whose effective frequency     is above a threshold:</a:t>
            </a:r>
            <a:endParaRPr/>
          </a:p>
        </p:txBody>
      </p:sp>
      <p:pic>
        <p:nvPicPr>
          <p:cNvPr id="420" name="Google Shape;420;p52" title="Screenshot 2026-01-14 at 21.27.30.png"/>
          <p:cNvPicPr preferRelativeResize="0"/>
          <p:nvPr/>
        </p:nvPicPr>
        <p:blipFill rotWithShape="1">
          <a:blip r:embed="rId3">
            <a:alphaModFix/>
          </a:blip>
          <a:srcRect b="0" l="0" r="1845" t="0"/>
          <a:stretch/>
        </p:blipFill>
        <p:spPr>
          <a:xfrm>
            <a:off x="2543250" y="2375283"/>
            <a:ext cx="218200" cy="2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2" title="Screenshot 2026-01-15 at 02.46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4750" y="3225706"/>
            <a:ext cx="2834498" cy="78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2" title="{&quot;red&quot;:89,&quot;green&quot;:89,&quot;blue&quot;:89,&quot;origURL&quot;:&quot;https://www.codecogs.com/eqnedit.php?latex=f_n#0&quot;,&quot;size&quot;:18,&quot;width&quot;:686.3858267716536,&quot;height&quot;:296.8582677165354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075" y="2375275"/>
            <a:ext cx="216027" cy="23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with Different Testing Frequencies</a:t>
            </a:r>
            <a:endParaRPr/>
          </a:p>
        </p:txBody>
      </p:sp>
      <p:sp>
        <p:nvSpPr>
          <p:cNvPr id="428" name="Google Shape;428;p53"/>
          <p:cNvSpPr txBox="1"/>
          <p:nvPr/>
        </p:nvSpPr>
        <p:spPr>
          <a:xfrm>
            <a:off x="0" y="0"/>
            <a:ext cx="3273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"State space models for event cameras"</a:t>
            </a:r>
            <a:endParaRPr sz="1255">
              <a:solidFill>
                <a:schemeClr val="dk2"/>
              </a:solidFill>
            </a:endParaRPr>
          </a:p>
        </p:txBody>
      </p:sp>
      <p:pic>
        <p:nvPicPr>
          <p:cNvPr id="429" name="Google Shape;429;p53" title="Screenshot 2026-01-15 at 02.48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0175"/>
            <a:ext cx="8839204" cy="312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35" name="Google Shape;435;p54"/>
          <p:cNvSpPr txBox="1"/>
          <p:nvPr/>
        </p:nvSpPr>
        <p:spPr>
          <a:xfrm>
            <a:off x="0" y="0"/>
            <a:ext cx="3273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5">
                <a:solidFill>
                  <a:schemeClr val="dk2"/>
                </a:solidFill>
              </a:rPr>
              <a:t>"EventMamba"</a:t>
            </a:r>
            <a:endParaRPr sz="125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441" name="Google Shape;44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https://www.ibm.com/think/topics/state-space-model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 Visual Guide to Mamba and State Space Models,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https://newsletter.maartengrootendorst.com/p/a-visual-guide-to-mamba-and-state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State Space Models (S4, S5, S6/Mamba) Explained, </a:t>
            </a:r>
            <a:r>
              <a:rPr lang="en" sz="1200" u="sng">
                <a:solidFill>
                  <a:schemeClr val="hlink"/>
                </a:solidFill>
                <a:hlinkClick r:id="rId5"/>
              </a:rPr>
              <a:t>https://www.youtube.com/watch?v=QJHA-PY8zDc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Making the Work-Efficient Parallel Prefix Sum Do Less Work, </a:t>
            </a:r>
            <a:r>
              <a:rPr lang="en" sz="1200" u="sng">
                <a:solidFill>
                  <a:schemeClr val="hlink"/>
                </a:solidFill>
                <a:hlinkClick r:id="rId6"/>
              </a:rPr>
              <a:t>https://www.youtube.com/watch?v=1G8CZioSjnM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Introduction to State Space Models (SSM), </a:t>
            </a:r>
            <a:r>
              <a:rPr lang="en" sz="1200" u="sng">
                <a:solidFill>
                  <a:schemeClr val="hlink"/>
                </a:solidFill>
                <a:hlinkClick r:id="rId7"/>
              </a:rPr>
              <a:t>https://huggingface.co/blog/lbourdois/get-on-the-ssm-train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Annotated S4, https://srush.github.io/annotated-s4/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