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DM Sans Medium"/>
      <p:regular r:id="rId24"/>
      <p:bold r:id="rId25"/>
      <p:italic r:id="rId26"/>
      <p:boldItalic r:id="rId27"/>
    </p:embeddedFont>
    <p:embeddedFont>
      <p:font typeface="Merriweather"/>
      <p:regular r:id="rId28"/>
      <p:bold r:id="rId29"/>
      <p:italic r:id="rId30"/>
      <p:boldItalic r:id="rId31"/>
    </p:embeddedFont>
    <p:embeddedFont>
      <p:font typeface="DM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DMSansMedium-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Medium-italic.fntdata"/><Relationship Id="rId25" Type="http://schemas.openxmlformats.org/officeDocument/2006/relationships/font" Target="fonts/DMSansMedium-bold.fntdata"/><Relationship Id="rId28" Type="http://schemas.openxmlformats.org/officeDocument/2006/relationships/font" Target="fonts/Merriweather-regular.fntdata"/><Relationship Id="rId27" Type="http://schemas.openxmlformats.org/officeDocument/2006/relationships/font" Target="fonts/DMSans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boldItalic.fntdata"/><Relationship Id="rId30" Type="http://schemas.openxmlformats.org/officeDocument/2006/relationships/font" Target="fonts/Merriweather-italic.fntdata"/><Relationship Id="rId11" Type="http://schemas.openxmlformats.org/officeDocument/2006/relationships/slide" Target="slides/slide6.xml"/><Relationship Id="rId33" Type="http://schemas.openxmlformats.org/officeDocument/2006/relationships/font" Target="fonts/DMSans-bold.fntdata"/><Relationship Id="rId10" Type="http://schemas.openxmlformats.org/officeDocument/2006/relationships/slide" Target="slides/slide5.xml"/><Relationship Id="rId32" Type="http://schemas.openxmlformats.org/officeDocument/2006/relationships/font" Target="fonts/DMSans-regular.fntdata"/><Relationship Id="rId13" Type="http://schemas.openxmlformats.org/officeDocument/2006/relationships/slide" Target="slides/slide8.xml"/><Relationship Id="rId35" Type="http://schemas.openxmlformats.org/officeDocument/2006/relationships/font" Target="fonts/DMSans-boldItalic.fntdata"/><Relationship Id="rId12" Type="http://schemas.openxmlformats.org/officeDocument/2006/relationships/slide" Target="slides/slide7.xml"/><Relationship Id="rId34" Type="http://schemas.openxmlformats.org/officeDocument/2006/relationships/font" Target="fonts/DM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17ef4256a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17ef4256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17ef4256a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17ef4256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17ef4256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17ef4256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17ef4256a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17ef4256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1b5a102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1b5a102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1b5a1028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b1b5a1028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1b5a10284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b1b5a1028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17ef4256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b17ef4256a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b17ef4256a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b17ef4256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83" name="Shape 83"/>
        <p:cNvGrpSpPr/>
        <p:nvPr/>
      </p:nvGrpSpPr>
      <p:grpSpPr>
        <a:xfrm>
          <a:off x="0" y="0"/>
          <a:ext cx="0" cy="0"/>
          <a:chOff x="0" y="0"/>
          <a:chExt cx="0" cy="0"/>
        </a:xfrm>
      </p:grpSpPr>
      <p:sp>
        <p:nvSpPr>
          <p:cNvPr id="84" name="Google Shape;84;p13"/>
          <p:cNvSpPr txBox="1"/>
          <p:nvPr/>
        </p:nvSpPr>
        <p:spPr>
          <a:xfrm>
            <a:off x="190500" y="2085230"/>
            <a:ext cx="11811000" cy="62865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500" u="none" cap="none" strike="noStrike">
                <a:solidFill>
                  <a:srgbClr val="F3F0DF"/>
                </a:solidFill>
                <a:latin typeface="Merriweather"/>
                <a:ea typeface="Merriweather"/>
                <a:cs typeface="Merriweather"/>
                <a:sym typeface="Merriweather"/>
              </a:rPr>
              <a:t>AEGNN</a:t>
            </a:r>
            <a:endParaRPr/>
          </a:p>
        </p:txBody>
      </p:sp>
      <p:sp>
        <p:nvSpPr>
          <p:cNvPr id="85" name="Google Shape;85;p13"/>
          <p:cNvSpPr txBox="1"/>
          <p:nvPr/>
        </p:nvSpPr>
        <p:spPr>
          <a:xfrm>
            <a:off x="190500" y="2809130"/>
            <a:ext cx="11811000" cy="4000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400" u="none" cap="none" strike="noStrike">
                <a:solidFill>
                  <a:srgbClr val="11CAA0"/>
                </a:solidFill>
                <a:latin typeface="DM Sans Medium"/>
                <a:ea typeface="DM Sans Medium"/>
                <a:cs typeface="DM Sans Medium"/>
                <a:sym typeface="DM Sans Medium"/>
              </a:rPr>
              <a:t>Asynchronous Event-based Graph Neural Networks</a:t>
            </a:r>
            <a:endParaRPr/>
          </a:p>
        </p:txBody>
      </p:sp>
      <p:sp>
        <p:nvSpPr>
          <p:cNvPr id="86" name="Google Shape;86;p13"/>
          <p:cNvSpPr txBox="1"/>
          <p:nvPr/>
        </p:nvSpPr>
        <p:spPr>
          <a:xfrm>
            <a:off x="381000" y="3652539"/>
            <a:ext cx="11430000" cy="84030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lang="en-US" sz="2100">
                <a:solidFill>
                  <a:srgbClr val="CBD5E1"/>
                </a:solidFill>
                <a:latin typeface="DM Sans"/>
                <a:ea typeface="DM Sans"/>
                <a:cs typeface="DM Sans"/>
                <a:sym typeface="DM Sans"/>
              </a:rPr>
              <a:t>A Review of </a:t>
            </a:r>
            <a:r>
              <a:rPr b="0" i="0" lang="en-US" sz="2100" u="none" cap="none" strike="noStrike">
                <a:solidFill>
                  <a:srgbClr val="CBD5E1"/>
                </a:solidFill>
                <a:latin typeface="DM Sans"/>
                <a:ea typeface="DM Sans"/>
                <a:cs typeface="DM Sans"/>
                <a:sym typeface="DM Sans"/>
              </a:rPr>
              <a:t>Simon Schaefer, Daniel Gehrig, Davide Scaramuzza</a:t>
            </a:r>
            <a:br>
              <a:rPr b="0" i="0" lang="en-US" sz="1800" u="none" cap="none" strike="noStrike">
                <a:solidFill>
                  <a:schemeClr val="dk1"/>
                </a:solidFill>
                <a:latin typeface="Calibri"/>
                <a:ea typeface="Calibri"/>
                <a:cs typeface="Calibri"/>
                <a:sym typeface="Calibri"/>
              </a:rPr>
            </a:br>
            <a:r>
              <a:rPr b="0" i="0" lang="en-US" sz="2100" u="none" cap="none" strike="noStrike">
                <a:solidFill>
                  <a:srgbClr val="CBD5E1"/>
                </a:solidFill>
                <a:latin typeface="DM Sans"/>
                <a:ea typeface="DM Sans"/>
                <a:cs typeface="DM Sans"/>
                <a:sym typeface="DM Sans"/>
              </a:rPr>
              <a:t> CVPR 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381000" y="1808112"/>
            <a:ext cx="5476875" cy="4668887"/>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6334125" y="1808112"/>
            <a:ext cx="5476875" cy="4668887"/>
          </a:xfrm>
          <a:prstGeom prst="rect">
            <a:avLst/>
          </a:prstGeom>
          <a:noFill/>
          <a:ln>
            <a:noFill/>
          </a:ln>
        </p:spPr>
      </p:pic>
      <p:sp>
        <p:nvSpPr>
          <p:cNvPr id="93" name="Google Shape;93;p14"/>
          <p:cNvSpPr txBox="1"/>
          <p:nvPr/>
        </p:nvSpPr>
        <p:spPr>
          <a:xfrm>
            <a:off x="381000" y="760362"/>
            <a:ext cx="1181100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The "Wasteful Computation" Problem</a:t>
            </a:r>
            <a:endParaRPr/>
          </a:p>
        </p:txBody>
      </p:sp>
      <p:sp>
        <p:nvSpPr>
          <p:cNvPr id="94" name="Google Shape;94;p14"/>
          <p:cNvSpPr txBox="1"/>
          <p:nvPr/>
        </p:nvSpPr>
        <p:spPr>
          <a:xfrm>
            <a:off x="771525" y="2761357"/>
            <a:ext cx="4930616"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5088"/>
                </a:solidFill>
                <a:latin typeface="Merriweather"/>
                <a:ea typeface="Merriweather"/>
                <a:cs typeface="Merriweather"/>
                <a:sym typeface="Merriweather"/>
              </a:rPr>
              <a:t>Standard Dense Methods</a:t>
            </a:r>
            <a:endParaRPr/>
          </a:p>
        </p:txBody>
      </p:sp>
      <p:sp>
        <p:nvSpPr>
          <p:cNvPr id="95" name="Google Shape;95;p14"/>
          <p:cNvSpPr txBox="1"/>
          <p:nvPr/>
        </p:nvSpPr>
        <p:spPr>
          <a:xfrm>
            <a:off x="771525" y="3390007"/>
            <a:ext cx="46958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Traditional approaches convert sparse event streams into dense image-like grids.</a:t>
            </a:r>
            <a:endParaRPr/>
          </a:p>
        </p:txBody>
      </p:sp>
      <p:sp>
        <p:nvSpPr>
          <p:cNvPr id="96" name="Google Shape;96;p14"/>
          <p:cNvSpPr txBox="1"/>
          <p:nvPr/>
        </p:nvSpPr>
        <p:spPr>
          <a:xfrm>
            <a:off x="771525" y="4380607"/>
            <a:ext cx="469582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The Problem:</a:t>
            </a:r>
            <a:r>
              <a:rPr b="0" i="0" lang="en-US" sz="1500" u="none" cap="none" strike="noStrike">
                <a:solidFill>
                  <a:srgbClr val="334155"/>
                </a:solidFill>
                <a:latin typeface="DM Sans"/>
                <a:ea typeface="DM Sans"/>
                <a:cs typeface="DM Sans"/>
                <a:sym typeface="DM Sans"/>
              </a:rPr>
              <a:t> This discards the inherent sparsity of the data and forces the processing of empty pixels (zeros), leading to high latency and unnecessary power consumption.</a:t>
            </a:r>
            <a:endParaRPr/>
          </a:p>
        </p:txBody>
      </p:sp>
      <p:sp>
        <p:nvSpPr>
          <p:cNvPr id="97" name="Google Shape;97;p14"/>
          <p:cNvSpPr txBox="1"/>
          <p:nvPr/>
        </p:nvSpPr>
        <p:spPr>
          <a:xfrm>
            <a:off x="6724650" y="2761357"/>
            <a:ext cx="4930616"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5088"/>
                </a:solidFill>
                <a:latin typeface="Merriweather"/>
                <a:ea typeface="Merriweather"/>
                <a:cs typeface="Merriweather"/>
                <a:sym typeface="Merriweather"/>
              </a:rPr>
              <a:t>The AEGNN Solution</a:t>
            </a:r>
            <a:endParaRPr/>
          </a:p>
        </p:txBody>
      </p:sp>
      <p:sp>
        <p:nvSpPr>
          <p:cNvPr id="98" name="Google Shape;98;p14"/>
          <p:cNvSpPr txBox="1"/>
          <p:nvPr/>
        </p:nvSpPr>
        <p:spPr>
          <a:xfrm>
            <a:off x="6724650" y="3390007"/>
            <a:ext cx="46958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AEGNN processes events as </a:t>
            </a:r>
            <a:r>
              <a:rPr b="1" i="0" lang="en-US" sz="1500" u="none" cap="none" strike="noStrike">
                <a:solidFill>
                  <a:srgbClr val="334155"/>
                </a:solidFill>
                <a:latin typeface="DM Sans"/>
                <a:ea typeface="DM Sans"/>
                <a:cs typeface="DM Sans"/>
                <a:sym typeface="DM Sans"/>
              </a:rPr>
              <a:t>evolving spatio-temporal graphs</a:t>
            </a:r>
            <a:r>
              <a:rPr b="0" i="0" lang="en-US" sz="1500" u="none" cap="none" strike="noStrike">
                <a:solidFill>
                  <a:srgbClr val="334155"/>
                </a:solidFill>
                <a:latin typeface="DM Sans"/>
                <a:ea typeface="DM Sans"/>
                <a:cs typeface="DM Sans"/>
                <a:sym typeface="DM Sans"/>
              </a:rPr>
              <a:t>.</a:t>
            </a:r>
            <a:endParaRPr/>
          </a:p>
        </p:txBody>
      </p:sp>
      <p:sp>
        <p:nvSpPr>
          <p:cNvPr id="99" name="Google Shape;99;p14"/>
          <p:cNvSpPr txBox="1"/>
          <p:nvPr/>
        </p:nvSpPr>
        <p:spPr>
          <a:xfrm>
            <a:off x="6724650" y="4380607"/>
            <a:ext cx="46959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The Innovation:</a:t>
            </a:r>
            <a:r>
              <a:rPr b="0" i="0" lang="en-US" sz="1500" u="none" cap="none" strike="noStrike">
                <a:solidFill>
                  <a:srgbClr val="334155"/>
                </a:solidFill>
                <a:latin typeface="DM Sans"/>
                <a:ea typeface="DM Sans"/>
                <a:cs typeface="DM Sans"/>
                <a:sym typeface="DM Sans"/>
              </a:rPr>
              <a:t> It updates activations asynchronously. When a new event arrives, we only recompute the </a:t>
            </a:r>
            <a:r>
              <a:rPr b="1" i="0" lang="en-US" sz="1500" u="none" cap="none" strike="noStrike">
                <a:solidFill>
                  <a:srgbClr val="334155"/>
                </a:solidFill>
                <a:latin typeface="DM Sans"/>
                <a:ea typeface="DM Sans"/>
                <a:cs typeface="DM Sans"/>
                <a:sym typeface="DM Sans"/>
              </a:rPr>
              <a:t>local </a:t>
            </a:r>
            <a:r>
              <a:rPr b="0" i="0" lang="en-US" sz="1500" u="none" cap="none" strike="noStrike">
                <a:solidFill>
                  <a:srgbClr val="334155"/>
                </a:solidFill>
                <a:latin typeface="DM Sans"/>
                <a:ea typeface="DM Sans"/>
                <a:cs typeface="DM Sans"/>
                <a:sym typeface="DM Sans"/>
              </a:rPr>
              <a:t>neighborhood, preserving the microsecond-resolution and sparsity of the sensor.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solidFill>
                  <a:srgbClr val="005088"/>
                </a:solidFill>
              </a:rPr>
              <a:t>Contributions</a:t>
            </a:r>
            <a:endParaRPr>
              <a:solidFill>
                <a:srgbClr val="005088"/>
              </a:solidFill>
            </a:endParaRPr>
          </a:p>
        </p:txBody>
      </p:sp>
      <p:sp>
        <p:nvSpPr>
          <p:cNvPr id="105" name="Google Shape;105;p15"/>
          <p:cNvSpPr txBox="1"/>
          <p:nvPr>
            <p:ph idx="1" type="body"/>
          </p:nvPr>
        </p:nvSpPr>
        <p:spPr>
          <a:xfrm>
            <a:off x="457200" y="1307000"/>
            <a:ext cx="9754500" cy="54000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Novel paradigm for processing events sparsely and asynchronously as temporally evolving graphs</a:t>
            </a:r>
            <a:endParaRPr/>
          </a:p>
          <a:p>
            <a:pPr indent="-342900" lvl="0" marL="457200" rtl="0" algn="l">
              <a:spcBef>
                <a:spcPts val="0"/>
              </a:spcBef>
              <a:spcAft>
                <a:spcPts val="0"/>
              </a:spcAft>
              <a:buSzPts val="1800"/>
              <a:buChar char="•"/>
            </a:pPr>
            <a:r>
              <a:rPr lang="en-US"/>
              <a:t>Efficient update rules</a:t>
            </a:r>
            <a:endParaRPr/>
          </a:p>
          <a:p>
            <a:pPr indent="-342900" lvl="1" marL="914400" rtl="0" algn="l">
              <a:spcBef>
                <a:spcPts val="0"/>
              </a:spcBef>
              <a:spcAft>
                <a:spcPts val="0"/>
              </a:spcAft>
              <a:buSzPts val="1800"/>
              <a:buChar char="–"/>
            </a:pPr>
            <a:r>
              <a:rPr lang="en-US"/>
              <a:t>AEGNN can be trained on synchronous event-data and tested asynchronously</a:t>
            </a:r>
            <a:endParaRPr/>
          </a:p>
          <a:p>
            <a:pPr indent="-342900" lvl="2" marL="1371600" rtl="0" algn="l">
              <a:spcBef>
                <a:spcPts val="0"/>
              </a:spcBef>
              <a:spcAft>
                <a:spcPts val="0"/>
              </a:spcAft>
              <a:buSzPts val="1800"/>
              <a:buChar char="•"/>
            </a:pPr>
            <a:r>
              <a:rPr lang="en-US"/>
              <a:t>needed for GPU dependency</a:t>
            </a:r>
            <a:endParaRPr/>
          </a:p>
          <a:p>
            <a:pPr indent="-342900" lvl="0" marL="457200" rtl="0" algn="l">
              <a:spcBef>
                <a:spcPts val="0"/>
              </a:spcBef>
              <a:spcAft>
                <a:spcPts val="0"/>
              </a:spcAft>
              <a:buSzPts val="1800"/>
              <a:buChar char="•"/>
            </a:pPr>
            <a:r>
              <a:rPr lang="en-US"/>
              <a:t>Application of AEGNN for object recognition/detection.</a:t>
            </a:r>
            <a:endParaRPr/>
          </a:p>
          <a:p>
            <a:pPr indent="-342900" lvl="1" marL="914400" rtl="0" algn="l">
              <a:spcBef>
                <a:spcPts val="0"/>
              </a:spcBef>
              <a:spcAft>
                <a:spcPts val="0"/>
              </a:spcAft>
              <a:buSzPts val="1800"/>
              <a:buChar char="–"/>
            </a:pPr>
            <a:r>
              <a:rPr lang="en-US"/>
              <a:t>200x less compute for recognition</a:t>
            </a:r>
            <a:endParaRPr/>
          </a:p>
          <a:p>
            <a:pPr indent="-342900" lvl="1" marL="914400" rtl="0" algn="l">
              <a:spcBef>
                <a:spcPts val="0"/>
              </a:spcBef>
              <a:spcAft>
                <a:spcPts val="0"/>
              </a:spcAft>
              <a:buSzPts val="1800"/>
              <a:buChar char="–"/>
            </a:pPr>
            <a:r>
              <a:rPr lang="en-US"/>
              <a:t>21x less compute for detection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solidFill>
                  <a:srgbClr val="005088"/>
                </a:solidFill>
              </a:rPr>
              <a:t>Spreadsheet Analogy</a:t>
            </a:r>
            <a:endParaRPr>
              <a:solidFill>
                <a:srgbClr val="005088"/>
              </a:solidFill>
            </a:endParaRPr>
          </a:p>
        </p:txBody>
      </p:sp>
      <p:sp>
        <p:nvSpPr>
          <p:cNvPr id="111" name="Google Shape;111;p16"/>
          <p:cNvSpPr txBox="1"/>
          <p:nvPr>
            <p:ph idx="1" type="body"/>
          </p:nvPr>
        </p:nvSpPr>
        <p:spPr>
          <a:xfrm>
            <a:off x="457200" y="1600200"/>
            <a:ext cx="111459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Suppose you have a giant spreadsheet</a:t>
            </a:r>
            <a:endParaRPr/>
          </a:p>
          <a:p>
            <a:pPr indent="-342900" lvl="0" marL="457200" rtl="0" algn="l">
              <a:spcBef>
                <a:spcPts val="0"/>
              </a:spcBef>
              <a:spcAft>
                <a:spcPts val="0"/>
              </a:spcAft>
              <a:buSzPts val="1800"/>
              <a:buChar char="•"/>
            </a:pPr>
            <a:r>
              <a:rPr lang="en-US">
                <a:solidFill>
                  <a:srgbClr val="005088"/>
                </a:solidFill>
              </a:rPr>
              <a:t>Synchronous </a:t>
            </a:r>
            <a:r>
              <a:rPr lang="en-US"/>
              <a:t>training</a:t>
            </a:r>
            <a:endParaRPr/>
          </a:p>
          <a:p>
            <a:pPr indent="-342900" lvl="1" marL="914400" rtl="0" algn="l">
              <a:spcBef>
                <a:spcPts val="0"/>
              </a:spcBef>
              <a:spcAft>
                <a:spcPts val="0"/>
              </a:spcAft>
              <a:buSzPts val="1800"/>
              <a:buChar char="–"/>
            </a:pPr>
            <a:r>
              <a:rPr lang="en-US"/>
              <a:t>everytime you add 1 number, you force the computer to recalculate </a:t>
            </a:r>
            <a:r>
              <a:rPr b="1" lang="en-US"/>
              <a:t>every single cell</a:t>
            </a:r>
            <a:r>
              <a:rPr lang="en-US"/>
              <a:t> in the entire sheet. </a:t>
            </a:r>
            <a:endParaRPr/>
          </a:p>
          <a:p>
            <a:pPr indent="-342900" lvl="1" marL="914400" rtl="0" algn="l">
              <a:spcBef>
                <a:spcPts val="0"/>
              </a:spcBef>
              <a:spcAft>
                <a:spcPts val="0"/>
              </a:spcAft>
              <a:buSzPts val="1800"/>
              <a:buChar char="–"/>
            </a:pPr>
            <a:r>
              <a:rPr lang="en-US"/>
              <a:t>Safe and easy to implement, but has a high cost</a:t>
            </a:r>
            <a:endParaRPr/>
          </a:p>
          <a:p>
            <a:pPr indent="-342900" lvl="0" marL="457200" rtl="0" algn="l">
              <a:spcBef>
                <a:spcPts val="0"/>
              </a:spcBef>
              <a:spcAft>
                <a:spcPts val="0"/>
              </a:spcAft>
              <a:buSzPts val="1800"/>
              <a:buChar char="•"/>
            </a:pPr>
            <a:r>
              <a:rPr lang="en-US">
                <a:solidFill>
                  <a:srgbClr val="005088"/>
                </a:solidFill>
              </a:rPr>
              <a:t>Asynchronous </a:t>
            </a:r>
            <a:r>
              <a:rPr lang="en-US"/>
              <a:t>deployment</a:t>
            </a:r>
            <a:endParaRPr/>
          </a:p>
          <a:p>
            <a:pPr indent="-342900" lvl="1" marL="914400" rtl="0" algn="l">
              <a:spcBef>
                <a:spcPts val="0"/>
              </a:spcBef>
              <a:spcAft>
                <a:spcPts val="0"/>
              </a:spcAft>
              <a:buSzPts val="1800"/>
              <a:buChar char="–"/>
            </a:pPr>
            <a:r>
              <a:rPr lang="en-US"/>
              <a:t>“I added a number in cell A3. Only cell B4 depends on A3 and only cell C5 depends on B4.” → only update those 3 cells</a:t>
            </a:r>
            <a:endParaRPr/>
          </a:p>
          <a:p>
            <a:pPr indent="-342900" lvl="0" marL="457200" rtl="0" algn="l">
              <a:spcBef>
                <a:spcPts val="0"/>
              </a:spcBef>
              <a:spcAft>
                <a:spcPts val="0"/>
              </a:spcAft>
              <a:buSzPts val="1800"/>
              <a:buChar char="•"/>
            </a:pPr>
            <a:r>
              <a:rPr lang="en-US"/>
              <a:t>Both have the same result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solidFill>
                  <a:srgbClr val="005088"/>
                </a:solidFill>
              </a:rPr>
              <a:t>Strongest takeaway</a:t>
            </a:r>
            <a:r>
              <a:rPr lang="en-US">
                <a:solidFill>
                  <a:srgbClr val="005088"/>
                </a:solidFill>
              </a:rPr>
              <a:t> of this paper</a:t>
            </a:r>
            <a:endParaRPr>
              <a:solidFill>
                <a:srgbClr val="005088"/>
              </a:solidFill>
            </a:endParaRPr>
          </a:p>
        </p:txBody>
      </p:sp>
      <p:sp>
        <p:nvSpPr>
          <p:cNvPr id="117" name="Google Shape;117;p17"/>
          <p:cNvSpPr txBox="1"/>
          <p:nvPr>
            <p:ph idx="1" type="body"/>
          </p:nvPr>
        </p:nvSpPr>
        <p:spPr>
          <a:xfrm>
            <a:off x="457200" y="1600200"/>
            <a:ext cx="103221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graphActivations(whole_static_batch) = graphActivations(event_by_event)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3">
            <a:alphaModFix/>
          </a:blip>
          <a:stretch>
            <a:fillRect/>
          </a:stretch>
        </p:blipFill>
        <p:spPr>
          <a:xfrm>
            <a:off x="0" y="2333625"/>
            <a:ext cx="12192000" cy="2190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19"/>
          <p:cNvSpPr txBox="1"/>
          <p:nvPr/>
        </p:nvSpPr>
        <p:spPr>
          <a:xfrm>
            <a:off x="571500" y="950862"/>
            <a:ext cx="5050631"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Graph Construction</a:t>
            </a:r>
            <a:endParaRPr/>
          </a:p>
        </p:txBody>
      </p:sp>
      <p:sp>
        <p:nvSpPr>
          <p:cNvPr id="128" name="Google Shape;128;p19"/>
          <p:cNvSpPr txBox="1"/>
          <p:nvPr/>
        </p:nvSpPr>
        <p:spPr>
          <a:xfrm>
            <a:off x="571500" y="1903362"/>
            <a:ext cx="48102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Events are embedded as nodes in a spatio-temporal graph </a:t>
            </a:r>
            <a:r>
              <a:rPr lang="en-US" sz="1500">
                <a:solidFill>
                  <a:srgbClr val="334155"/>
                </a:solidFill>
                <a:latin typeface="DM Sans"/>
                <a:ea typeface="DM Sans"/>
                <a:cs typeface="DM Sans"/>
                <a:sym typeface="DM Sans"/>
              </a:rPr>
              <a:t>G = (V,E) where the edges are directed</a:t>
            </a:r>
            <a:endParaRPr sz="1500">
              <a:solidFill>
                <a:srgbClr val="334155"/>
              </a:solidFill>
              <a:latin typeface="DM Sans"/>
              <a:ea typeface="DM Sans"/>
              <a:cs typeface="DM Sans"/>
              <a:sym typeface="DM Sans"/>
            </a:endParaRPr>
          </a:p>
          <a:p>
            <a:pPr indent="0" lvl="0" marL="0" marR="0" rtl="0" algn="l">
              <a:lnSpc>
                <a:spcPct val="160000"/>
              </a:lnSpc>
              <a:spcBef>
                <a:spcPts val="0"/>
              </a:spcBef>
              <a:spcAft>
                <a:spcPts val="0"/>
              </a:spcAft>
              <a:buNone/>
            </a:pPr>
            <a:r>
              <a:rPr lang="en-US" sz="1500">
                <a:solidFill>
                  <a:srgbClr val="334155"/>
                </a:solidFill>
                <a:latin typeface="DM Sans"/>
                <a:ea typeface="DM Sans"/>
                <a:cs typeface="DM Sans"/>
                <a:sym typeface="DM Sans"/>
              </a:rPr>
              <a:t>Events are subsampled by a factor of 10 to prevent overfitting</a:t>
            </a:r>
            <a:endParaRPr sz="1500">
              <a:solidFill>
                <a:srgbClr val="334155"/>
              </a:solidFill>
              <a:latin typeface="DM Sans"/>
              <a:ea typeface="DM Sans"/>
              <a:cs typeface="DM Sans"/>
              <a:sym typeface="DM Sans"/>
            </a:endParaRPr>
          </a:p>
        </p:txBody>
      </p:sp>
      <p:sp>
        <p:nvSpPr>
          <p:cNvPr id="129" name="Google Shape;129;p19"/>
          <p:cNvSpPr txBox="1"/>
          <p:nvPr/>
        </p:nvSpPr>
        <p:spPr>
          <a:xfrm>
            <a:off x="571500" y="3428988"/>
            <a:ext cx="48102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Temporal Normalization:</a:t>
            </a:r>
            <a:r>
              <a:rPr b="0" i="0" lang="en-US" sz="1500" u="none" cap="none" strike="noStrike">
                <a:solidFill>
                  <a:srgbClr val="334155"/>
                </a:solidFill>
                <a:latin typeface="DM Sans"/>
                <a:ea typeface="DM Sans"/>
                <a:cs typeface="DM Sans"/>
                <a:sym typeface="DM Sans"/>
              </a:rPr>
              <a:t> Time is scaled by to match spatial dimensions.</a:t>
            </a:r>
            <a:endParaRPr b="0" i="0" sz="1500" u="none" cap="none" strike="noStrike">
              <a:solidFill>
                <a:srgbClr val="334155"/>
              </a:solidFill>
              <a:latin typeface="DM Sans"/>
              <a:ea typeface="DM Sans"/>
              <a:cs typeface="DM Sans"/>
              <a:sym typeface="DM Sans"/>
            </a:endParaRPr>
          </a:p>
          <a:p>
            <a:pPr indent="0" lvl="0" marL="0" marR="0" rtl="0" algn="l">
              <a:lnSpc>
                <a:spcPct val="160000"/>
              </a:lnSpc>
              <a:spcBef>
                <a:spcPts val="0"/>
              </a:spcBef>
              <a:spcAft>
                <a:spcPts val="0"/>
              </a:spcAft>
              <a:buNone/>
            </a:pPr>
            <a:r>
              <a:rPr lang="en-US" sz="1500">
                <a:solidFill>
                  <a:srgbClr val="334155"/>
                </a:solidFill>
                <a:latin typeface="DM Sans"/>
                <a:ea typeface="DM Sans"/>
                <a:cs typeface="DM Sans"/>
                <a:sym typeface="DM Sans"/>
              </a:rPr>
              <a:t>Each vertex X</a:t>
            </a:r>
            <a:r>
              <a:rPr baseline="-25000" lang="en-US" sz="1500">
                <a:solidFill>
                  <a:srgbClr val="334155"/>
                </a:solidFill>
                <a:latin typeface="DM Sans"/>
                <a:ea typeface="DM Sans"/>
                <a:cs typeface="DM Sans"/>
                <a:sym typeface="DM Sans"/>
              </a:rPr>
              <a:t>i</a:t>
            </a:r>
            <a:r>
              <a:rPr lang="en-US" sz="1500">
                <a:solidFill>
                  <a:srgbClr val="334155"/>
                </a:solidFill>
                <a:latin typeface="DM Sans"/>
                <a:ea typeface="DM Sans"/>
                <a:cs typeface="DM Sans"/>
                <a:sym typeface="DM Sans"/>
              </a:rPr>
              <a:t> = (x</a:t>
            </a:r>
            <a:r>
              <a:rPr baseline="-25000" lang="en-US" sz="1500">
                <a:solidFill>
                  <a:srgbClr val="334155"/>
                </a:solidFill>
                <a:latin typeface="DM Sans"/>
                <a:ea typeface="DM Sans"/>
                <a:cs typeface="DM Sans"/>
                <a:sym typeface="DM Sans"/>
              </a:rPr>
              <a:t>i</a:t>
            </a:r>
            <a:r>
              <a:rPr lang="en-US" sz="1500">
                <a:solidFill>
                  <a:srgbClr val="334155"/>
                </a:solidFill>
                <a:latin typeface="DM Sans"/>
                <a:ea typeface="DM Sans"/>
                <a:cs typeface="DM Sans"/>
                <a:sym typeface="DM Sans"/>
              </a:rPr>
              <a:t>, y</a:t>
            </a:r>
            <a:r>
              <a:rPr baseline="-25000" lang="en-US" sz="1500">
                <a:solidFill>
                  <a:srgbClr val="334155"/>
                </a:solidFill>
                <a:latin typeface="DM Sans"/>
                <a:ea typeface="DM Sans"/>
                <a:cs typeface="DM Sans"/>
                <a:sym typeface="DM Sans"/>
              </a:rPr>
              <a:t>i</a:t>
            </a:r>
            <a:r>
              <a:rPr lang="en-US" sz="1500">
                <a:solidFill>
                  <a:srgbClr val="334155"/>
                </a:solidFill>
                <a:latin typeface="DM Sans"/>
                <a:ea typeface="DM Sans"/>
                <a:cs typeface="DM Sans"/>
                <a:sym typeface="DM Sans"/>
              </a:rPr>
              <a:t>, t</a:t>
            </a:r>
            <a:r>
              <a:rPr baseline="30000" lang="en-US" sz="1500">
                <a:solidFill>
                  <a:srgbClr val="334155"/>
                </a:solidFill>
                <a:latin typeface="DM Sans"/>
                <a:ea typeface="DM Sans"/>
                <a:cs typeface="DM Sans"/>
                <a:sym typeface="DM Sans"/>
              </a:rPr>
              <a:t>*</a:t>
            </a:r>
            <a:r>
              <a:rPr baseline="-25000" lang="en-US" sz="1500">
                <a:solidFill>
                  <a:srgbClr val="334155"/>
                </a:solidFill>
                <a:latin typeface="DM Sans"/>
                <a:ea typeface="DM Sans"/>
                <a:cs typeface="DM Sans"/>
                <a:sym typeface="DM Sans"/>
              </a:rPr>
              <a:t>i</a:t>
            </a:r>
            <a:r>
              <a:rPr lang="en-US" sz="1500">
                <a:solidFill>
                  <a:srgbClr val="334155"/>
                </a:solidFill>
                <a:latin typeface="DM Sans"/>
                <a:ea typeface="DM Sans"/>
                <a:cs typeface="DM Sans"/>
                <a:sym typeface="DM Sans"/>
              </a:rPr>
              <a:t>) with </a:t>
            </a:r>
            <a:r>
              <a:rPr lang="en-US" sz="1500">
                <a:solidFill>
                  <a:srgbClr val="334155"/>
                </a:solidFill>
                <a:latin typeface="DM Sans"/>
                <a:ea typeface="DM Sans"/>
                <a:cs typeface="DM Sans"/>
                <a:sym typeface="DM Sans"/>
              </a:rPr>
              <a:t>t</a:t>
            </a:r>
            <a:r>
              <a:rPr baseline="30000" lang="en-US" sz="1500">
                <a:solidFill>
                  <a:srgbClr val="334155"/>
                </a:solidFill>
                <a:latin typeface="DM Sans"/>
                <a:ea typeface="DM Sans"/>
                <a:cs typeface="DM Sans"/>
                <a:sym typeface="DM Sans"/>
              </a:rPr>
              <a:t>*</a:t>
            </a:r>
            <a:r>
              <a:rPr baseline="-25000" lang="en-US" sz="1500">
                <a:solidFill>
                  <a:srgbClr val="334155"/>
                </a:solidFill>
                <a:latin typeface="DM Sans"/>
                <a:ea typeface="DM Sans"/>
                <a:cs typeface="DM Sans"/>
                <a:sym typeface="DM Sans"/>
              </a:rPr>
              <a:t>i</a:t>
            </a:r>
            <a:r>
              <a:rPr lang="en-US" sz="1500">
                <a:solidFill>
                  <a:srgbClr val="334155"/>
                </a:solidFill>
                <a:latin typeface="DM Sans"/>
                <a:ea typeface="DM Sans"/>
                <a:cs typeface="DM Sans"/>
                <a:sym typeface="DM Sans"/>
              </a:rPr>
              <a:t> = βt</a:t>
            </a:r>
            <a:r>
              <a:rPr baseline="-25000" lang="en-US" sz="1500">
                <a:solidFill>
                  <a:srgbClr val="334155"/>
                </a:solidFill>
                <a:latin typeface="DM Sans"/>
                <a:ea typeface="DM Sans"/>
                <a:cs typeface="DM Sans"/>
                <a:sym typeface="DM Sans"/>
              </a:rPr>
              <a:t>i</a:t>
            </a:r>
            <a:endParaRPr sz="1500">
              <a:solidFill>
                <a:srgbClr val="334155"/>
              </a:solidFill>
              <a:latin typeface="DM Sans"/>
              <a:ea typeface="DM Sans"/>
              <a:cs typeface="DM Sans"/>
              <a:sym typeface="DM Sans"/>
            </a:endParaRPr>
          </a:p>
        </p:txBody>
      </p:sp>
      <p:sp>
        <p:nvSpPr>
          <p:cNvPr id="130" name="Google Shape;130;p19"/>
          <p:cNvSpPr txBox="1"/>
          <p:nvPr/>
        </p:nvSpPr>
        <p:spPr>
          <a:xfrm>
            <a:off x="6768900" y="1903338"/>
            <a:ext cx="48102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Radius Search:</a:t>
            </a:r>
            <a:r>
              <a:rPr b="0" i="0" lang="en-US" sz="1500" u="none" cap="none" strike="noStrike">
                <a:solidFill>
                  <a:srgbClr val="334155"/>
                </a:solidFill>
                <a:latin typeface="DM Sans"/>
                <a:ea typeface="DM Sans"/>
                <a:cs typeface="DM Sans"/>
                <a:sym typeface="DM Sans"/>
              </a:rPr>
              <a:t> Edges are created between events that fall within a defined spatio-temporal radius , linking simultaneous and spatially close events.</a:t>
            </a:r>
            <a:endParaRPr/>
          </a:p>
        </p:txBody>
      </p:sp>
      <p:pic>
        <p:nvPicPr>
          <p:cNvPr id="131" name="Google Shape;131;p19" title="{&quot;red&quot;:0,&quot;green&quot;:0,&quot;blue&quot;:0,&quot;origURL&quot;:&quot;https://www.codecogs.com/eqnedit.php?latex=R%20%5Cleq%20%5C%7C%20%5Cmathbf%7BX%7D_i%20-%20%5Cmathbf%7BX%7D_j%20%5C%7C#0&quot;,&quot;size&quot;:15,&quot;width&quot;:264.7795275590551,&quot;height&quot;:52.181102362204726}"/>
          <p:cNvPicPr preferRelativeResize="0"/>
          <p:nvPr/>
        </p:nvPicPr>
        <p:blipFill>
          <a:blip r:embed="rId3">
            <a:alphaModFix/>
          </a:blip>
          <a:stretch>
            <a:fillRect/>
          </a:stretch>
        </p:blipFill>
        <p:spPr>
          <a:xfrm>
            <a:off x="7838000" y="3021100"/>
            <a:ext cx="1383030" cy="22145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20"/>
          <p:cNvSpPr txBox="1"/>
          <p:nvPr/>
        </p:nvSpPr>
        <p:spPr>
          <a:xfrm>
            <a:off x="381000" y="760362"/>
            <a:ext cx="1181100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Asynchronous Update Rule</a:t>
            </a:r>
            <a:endParaRPr/>
          </a:p>
        </p:txBody>
      </p:sp>
      <p:sp>
        <p:nvSpPr>
          <p:cNvPr id="137" name="Google Shape;137;p20"/>
          <p:cNvSpPr txBox="1"/>
          <p:nvPr/>
        </p:nvSpPr>
        <p:spPr>
          <a:xfrm>
            <a:off x="380975" y="2290288"/>
            <a:ext cx="50958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Instead of recomputing the entire graph for every new event, AEGNN exploits locality</a:t>
            </a:r>
            <a:r>
              <a:rPr lang="en-US" sz="1500">
                <a:solidFill>
                  <a:srgbClr val="334155"/>
                </a:solidFill>
                <a:latin typeface="DM Sans"/>
                <a:ea typeface="DM Sans"/>
                <a:cs typeface="DM Sans"/>
                <a:sym typeface="DM Sans"/>
              </a:rPr>
              <a:t> via recursion</a:t>
            </a:r>
            <a:endParaRPr/>
          </a:p>
        </p:txBody>
      </p:sp>
      <p:sp>
        <p:nvSpPr>
          <p:cNvPr id="138" name="Google Shape;138;p20"/>
          <p:cNvSpPr txBox="1"/>
          <p:nvPr/>
        </p:nvSpPr>
        <p:spPr>
          <a:xfrm>
            <a:off x="380975" y="3069662"/>
            <a:ext cx="5095800" cy="6003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Locality:</a:t>
            </a:r>
            <a:r>
              <a:rPr b="0" i="0" lang="en-US" sz="1500" u="none" cap="none" strike="noStrike">
                <a:solidFill>
                  <a:srgbClr val="334155"/>
                </a:solidFill>
                <a:latin typeface="DM Sans"/>
                <a:ea typeface="DM Sans"/>
                <a:cs typeface="DM Sans"/>
                <a:sym typeface="DM Sans"/>
              </a:rPr>
              <a:t> A new event only affects its immediate neighbors.</a:t>
            </a:r>
            <a:endParaRPr/>
          </a:p>
        </p:txBody>
      </p:sp>
      <p:sp>
        <p:nvSpPr>
          <p:cNvPr id="139" name="Google Shape;139;p20"/>
          <p:cNvSpPr txBox="1"/>
          <p:nvPr/>
        </p:nvSpPr>
        <p:spPr>
          <a:xfrm>
            <a:off x="695325" y="4554587"/>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140" name="Google Shape;140;p20"/>
          <p:cNvSpPr txBox="1"/>
          <p:nvPr/>
        </p:nvSpPr>
        <p:spPr>
          <a:xfrm>
            <a:off x="380963" y="3849037"/>
            <a:ext cx="5095800" cy="96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Sparse Propagation:</a:t>
            </a:r>
            <a:r>
              <a:rPr b="0" i="0" lang="en-US" sz="1500" u="none" cap="none" strike="noStrike">
                <a:solidFill>
                  <a:srgbClr val="334155"/>
                </a:solidFill>
                <a:latin typeface="DM Sans"/>
                <a:ea typeface="DM Sans"/>
                <a:cs typeface="DM Sans"/>
                <a:sym typeface="DM Sans"/>
              </a:rPr>
              <a:t> In Layer 1, only the 1-hop subgraph updates. In Layer k, only the k-hop subgraph is recomputed.</a:t>
            </a:r>
            <a:endParaRPr/>
          </a:p>
        </p:txBody>
      </p:sp>
      <p:sp>
        <p:nvSpPr>
          <p:cNvPr id="141" name="Google Shape;141;p20"/>
          <p:cNvSpPr txBox="1"/>
          <p:nvPr/>
        </p:nvSpPr>
        <p:spPr>
          <a:xfrm>
            <a:off x="380963" y="4943162"/>
            <a:ext cx="5095800" cy="13392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Result:</a:t>
            </a:r>
            <a:r>
              <a:rPr b="0" i="0" lang="en-US" sz="1500" u="none" cap="none" strike="noStrike">
                <a:solidFill>
                  <a:srgbClr val="334155"/>
                </a:solidFill>
                <a:latin typeface="DM Sans"/>
                <a:ea typeface="DM Sans"/>
                <a:cs typeface="DM Sans"/>
                <a:sym typeface="DM Sans"/>
              </a:rPr>
              <a:t> activation </a:t>
            </a:r>
            <a:r>
              <a:rPr lang="en-US" sz="1500">
                <a:solidFill>
                  <a:srgbClr val="334155"/>
                </a:solidFill>
                <a:latin typeface="DM Sans"/>
                <a:ea typeface="DM Sans"/>
                <a:cs typeface="DM Sans"/>
                <a:sym typeface="DM Sans"/>
              </a:rPr>
              <a:t>c</a:t>
            </a:r>
            <a:r>
              <a:rPr b="0" i="0" lang="en-US" sz="1500" u="none" cap="none" strike="noStrike">
                <a:solidFill>
                  <a:srgbClr val="334155"/>
                </a:solidFill>
                <a:latin typeface="DM Sans"/>
                <a:ea typeface="DM Sans"/>
                <a:cs typeface="DM Sans"/>
                <a:sym typeface="DM Sans"/>
              </a:rPr>
              <a:t>omputation depends on subgraph size, not total graph size.</a:t>
            </a:r>
            <a:endParaRPr b="0" i="0" sz="1500" u="none" cap="none" strike="noStrike">
              <a:solidFill>
                <a:srgbClr val="334155"/>
              </a:solidFill>
              <a:latin typeface="DM Sans"/>
              <a:ea typeface="DM Sans"/>
              <a:cs typeface="DM Sans"/>
              <a:sym typeface="DM Sans"/>
            </a:endParaRPr>
          </a:p>
          <a:p>
            <a:pPr indent="0" lvl="0" marL="0" marR="0" rtl="0" algn="l">
              <a:lnSpc>
                <a:spcPct val="160000"/>
              </a:lnSpc>
              <a:spcBef>
                <a:spcPts val="0"/>
              </a:spcBef>
              <a:spcAft>
                <a:spcPts val="0"/>
              </a:spcAft>
              <a:buNone/>
            </a:pPr>
            <a:r>
              <a:rPr lang="en-US" sz="1500">
                <a:solidFill>
                  <a:srgbClr val="334155"/>
                </a:solidFill>
                <a:latin typeface="DM Sans"/>
                <a:ea typeface="DM Sans"/>
                <a:cs typeface="DM Sans"/>
                <a:sym typeface="DM Sans"/>
              </a:rPr>
              <a:t>Therefore, a full graph update is equivalent to a 1-hop subgraph update from the new vertex</a:t>
            </a:r>
            <a:endParaRPr sz="1500">
              <a:solidFill>
                <a:srgbClr val="334155"/>
              </a:solidFill>
              <a:latin typeface="DM Sans"/>
              <a:ea typeface="DM Sans"/>
              <a:cs typeface="DM Sans"/>
              <a:sym typeface="DM Sans"/>
            </a:endParaRPr>
          </a:p>
        </p:txBody>
      </p:sp>
      <p:pic>
        <p:nvPicPr>
          <p:cNvPr id="142" name="Google Shape;142;p20"/>
          <p:cNvPicPr preferRelativeResize="0"/>
          <p:nvPr/>
        </p:nvPicPr>
        <p:blipFill>
          <a:blip r:embed="rId3">
            <a:alphaModFix/>
          </a:blip>
          <a:stretch>
            <a:fillRect/>
          </a:stretch>
        </p:blipFill>
        <p:spPr>
          <a:xfrm>
            <a:off x="6010275" y="1484262"/>
            <a:ext cx="6029326" cy="2457606"/>
          </a:xfrm>
          <a:prstGeom prst="rect">
            <a:avLst/>
          </a:prstGeom>
          <a:noFill/>
          <a:ln>
            <a:noFill/>
          </a:ln>
        </p:spPr>
      </p:pic>
      <p:pic>
        <p:nvPicPr>
          <p:cNvPr id="143" name="Google Shape;143;p20" title="{&quot;red&quot;:0,&quot;green&quot;:0,&quot;blue&quot;:0,&quot;origURL&quot;:&quot;https://www.codecogs.com/eqnedit.php?latex=%5Chat%7B%5Cmathbf%7Bz%7D%7D_i%20%3D%20%5Csum_%7Bj%20%5Cin%20%5Cmathcal%7BN%7D(i)%7D%20%5Cpsi_%7B%5CTheta%7D(%5Cmathbf%7Bx%7D_i%2C%20%5Cmathbf%7Bx%7D_j%2C%20%5Cmathbf%7Be%7D_%7Bij%7D)#0&quot;,&quot;size&quot;:15,&quot;width&quot;:462.18897637795277,&quot;height&quot;:180}"/>
          <p:cNvPicPr preferRelativeResize="0"/>
          <p:nvPr/>
        </p:nvPicPr>
        <p:blipFill>
          <a:blip r:embed="rId4">
            <a:alphaModFix/>
          </a:blip>
          <a:stretch>
            <a:fillRect/>
          </a:stretch>
        </p:blipFill>
        <p:spPr>
          <a:xfrm>
            <a:off x="6010275" y="4067350"/>
            <a:ext cx="3130250" cy="714025"/>
          </a:xfrm>
          <a:prstGeom prst="rect">
            <a:avLst/>
          </a:prstGeom>
          <a:noFill/>
          <a:ln>
            <a:noFill/>
          </a:ln>
        </p:spPr>
      </p:pic>
      <p:pic>
        <p:nvPicPr>
          <p:cNvPr id="144" name="Google Shape;144;p20" title="{&quot;red&quot;:0,&quot;green&quot;:0,&quot;blue&quot;:0,&quot;origURL&quot;:&quot;https://www.codecogs.com/eqnedit.php?latex=%5Chat%7B%5Cmathbf%7Bx%7D%7D_i%20%3D%20%5Cgamma_%7B%5CTheta%7D(%5Cmathbf%7Bx%7D_i%2C%20%5Cmathbf%7Bz%7D_i)%20%5Cquad%20%5Ctext%7Bfor%20all%20%7D%20i%20%5Cin%20%5Cmathcal%7BN%7D(i')#0&quot;,&quot;size&quot;:15,&quot;width&quot;:462.18897637795277,&quot;height&quot;:180}"/>
          <p:cNvPicPr preferRelativeResize="0"/>
          <p:nvPr/>
        </p:nvPicPr>
        <p:blipFill>
          <a:blip r:embed="rId5">
            <a:alphaModFix/>
          </a:blip>
          <a:stretch>
            <a:fillRect/>
          </a:stretch>
        </p:blipFill>
        <p:spPr>
          <a:xfrm>
            <a:off x="6010275" y="5202400"/>
            <a:ext cx="4514749" cy="341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solidFill>
                  <a:srgbClr val="005088"/>
                </a:solidFill>
              </a:rPr>
              <a:t>Graph Convolutions</a:t>
            </a:r>
            <a:endParaRPr>
              <a:solidFill>
                <a:srgbClr val="005088"/>
              </a:solidFill>
            </a:endParaRPr>
          </a:p>
        </p:txBody>
      </p:sp>
      <p:sp>
        <p:nvSpPr>
          <p:cNvPr id="150" name="Google Shape;150;p21"/>
          <p:cNvSpPr txBox="1"/>
          <p:nvPr>
            <p:ph idx="1" type="body"/>
          </p:nvPr>
        </p:nvSpPr>
        <p:spPr>
          <a:xfrm>
            <a:off x="457200" y="1600200"/>
            <a:ext cx="11315700" cy="4454100"/>
          </a:xfrm>
          <a:prstGeom prst="rect">
            <a:avLst/>
          </a:prstGeom>
        </p:spPr>
        <p:txBody>
          <a:bodyPr anchorCtr="0" anchor="t" bIns="45700" lIns="91425" spcFirstLastPara="1" rIns="91425" wrap="square" tIns="45700">
            <a:noAutofit/>
          </a:bodyPr>
          <a:lstStyle/>
          <a:p>
            <a:pPr indent="-342900" lvl="0" marL="457200" rtl="0" algn="l">
              <a:spcBef>
                <a:spcPts val="360"/>
              </a:spcBef>
              <a:spcAft>
                <a:spcPts val="0"/>
              </a:spcAft>
              <a:buSzPts val="1800"/>
              <a:buChar char="•"/>
            </a:pPr>
            <a:r>
              <a:rPr lang="en-US"/>
              <a:t>for each node i in Graph</a:t>
            </a:r>
            <a:endParaRPr/>
          </a:p>
          <a:p>
            <a:pPr indent="-342900" lvl="1" marL="914400" rtl="0" algn="l">
              <a:spcBef>
                <a:spcPts val="0"/>
              </a:spcBef>
              <a:spcAft>
                <a:spcPts val="0"/>
              </a:spcAft>
              <a:buSzPts val="1800"/>
              <a:buChar char="–"/>
            </a:pPr>
            <a:r>
              <a:rPr lang="en-US"/>
              <a:t>function ψ computes messages based on pairs of neighbors</a:t>
            </a:r>
            <a:endParaRPr/>
          </a:p>
          <a:p>
            <a:pPr indent="-342900" lvl="2" marL="1371600" rtl="0" algn="l">
              <a:spcBef>
                <a:spcPts val="0"/>
              </a:spcBef>
              <a:spcAft>
                <a:spcPts val="0"/>
              </a:spcAft>
              <a:buSzPts val="1800"/>
              <a:buChar char="•"/>
            </a:pPr>
            <a:r>
              <a:rPr lang="en-US"/>
              <a:t>messages depend on node features at these nodes/edge and how i,j are spatially arranged</a:t>
            </a:r>
            <a:endParaRPr/>
          </a:p>
          <a:p>
            <a:pPr indent="-342900" lvl="1" marL="914400" rtl="0" algn="l">
              <a:spcBef>
                <a:spcPts val="0"/>
              </a:spcBef>
              <a:spcAft>
                <a:spcPts val="0"/>
              </a:spcAft>
              <a:buSzPts val="1800"/>
              <a:buChar char="–"/>
            </a:pPr>
            <a:r>
              <a:rPr lang="en-US"/>
              <a:t>all messages are aggregated via summation</a:t>
            </a:r>
            <a:endParaRPr/>
          </a:p>
          <a:p>
            <a:pPr indent="-342900" lvl="1" marL="914400" rtl="0" algn="l">
              <a:spcBef>
                <a:spcPts val="0"/>
              </a:spcBef>
              <a:spcAft>
                <a:spcPts val="0"/>
              </a:spcAft>
              <a:buSzPts val="1800"/>
              <a:buChar char="–"/>
            </a:pPr>
            <a:r>
              <a:rPr lang="en-US"/>
              <a:t>passed through function γ</a:t>
            </a:r>
            <a:r>
              <a:rPr baseline="-25000" lang="en-US"/>
              <a:t>θ</a:t>
            </a:r>
            <a:r>
              <a:rPr lang="en-US"/>
              <a:t> → new value for node i</a:t>
            </a:r>
            <a:r>
              <a:rPr lang="en-US"/>
              <a:t> </a:t>
            </a:r>
            <a:endParaRPr/>
          </a:p>
          <a:p>
            <a:pPr indent="0" lvl="0" marL="457200" rtl="0" algn="l">
              <a:spcBef>
                <a:spcPts val="360"/>
              </a:spcBef>
              <a:spcAft>
                <a:spcPts val="0"/>
              </a:spcAft>
              <a:buNone/>
            </a:pPr>
            <a:r>
              <a:t/>
            </a:r>
            <a:endParaRPr/>
          </a:p>
        </p:txBody>
      </p:sp>
      <p:pic>
        <p:nvPicPr>
          <p:cNvPr id="151" name="Google Shape;151;p21" title="{&quot;red&quot;:0,&quot;green&quot;:0,&quot;blue&quot;:0,&quot;origURL&quot;:&quot;https://www.codecogs.com/eqnedit.php?latex=%5Cmathbf%7Bz%7D_i%20%3D%20%5Csum_%7Bj%20%5Cin%20%5Cmathcal%7BN%7D(i)%7D%20%5Cpsi_%7B%5CTheta%7D(%5Cmathbf%7Bx%7D_i%2C%20%5Cmathbf%7Bx%7D_j%2C%20%5Cmathbf%7Be%7D_%7Bij%7D)#0&quot;,&quot;size&quot;:32,&quot;width&quot;:891,&quot;height&quot;:350.7165354330709}"/>
          <p:cNvPicPr preferRelativeResize="0"/>
          <p:nvPr/>
        </p:nvPicPr>
        <p:blipFill>
          <a:blip r:embed="rId3">
            <a:alphaModFix/>
          </a:blip>
          <a:stretch>
            <a:fillRect/>
          </a:stretch>
        </p:blipFill>
        <p:spPr>
          <a:xfrm>
            <a:off x="1067700" y="4390850"/>
            <a:ext cx="3901439" cy="889936"/>
          </a:xfrm>
          <a:prstGeom prst="rect">
            <a:avLst/>
          </a:prstGeom>
          <a:noFill/>
          <a:ln>
            <a:noFill/>
          </a:ln>
        </p:spPr>
      </p:pic>
      <p:pic>
        <p:nvPicPr>
          <p:cNvPr id="152" name="Google Shape;152;p21" title="{&quot;red&quot;:0,&quot;green&quot;:0,&quot;blue&quot;:0,&quot;origURL&quot;:&quot;https://www.codecogs.com/eqnedit.php?latex=%5Chat%7B%5Cmathbf%7Bx%7D%7D_i%20%3D%20%5Cgamma_%7B%5CTheta%7D(%5Cmathbf%7Bx%7D_i%2C%20%5Cmathbf%7Bz%7D_i)#0&quot;,&quot;size&quot;:32,&quot;width&quot;:891,&quot;height&quot;:350.7165354330709}"/>
          <p:cNvPicPr preferRelativeResize="0"/>
          <p:nvPr/>
        </p:nvPicPr>
        <p:blipFill>
          <a:blip r:embed="rId4">
            <a:alphaModFix/>
          </a:blip>
          <a:stretch>
            <a:fillRect/>
          </a:stretch>
        </p:blipFill>
        <p:spPr>
          <a:xfrm>
            <a:off x="5934450" y="4390838"/>
            <a:ext cx="2752344" cy="45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solidFill>
                  <a:srgbClr val="005088"/>
                </a:solidFill>
              </a:rPr>
              <a:t>Graph Convolution Analogy</a:t>
            </a:r>
            <a:endParaRPr>
              <a:solidFill>
                <a:srgbClr val="005088"/>
              </a:solidFill>
            </a:endParaRPr>
          </a:p>
        </p:txBody>
      </p:sp>
      <p:sp>
        <p:nvSpPr>
          <p:cNvPr id="158" name="Google Shape;158;p22"/>
          <p:cNvSpPr txBox="1"/>
          <p:nvPr>
            <p:ph idx="1" type="body"/>
          </p:nvPr>
        </p:nvSpPr>
        <p:spPr>
          <a:xfrm>
            <a:off x="152625" y="1295400"/>
            <a:ext cx="11823300" cy="54294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Social network of voters</a:t>
            </a:r>
            <a:endParaRPr/>
          </a:p>
          <a:p>
            <a:pPr indent="-342900" lvl="1" marL="914400" rtl="0" algn="l">
              <a:spcBef>
                <a:spcPts val="0"/>
              </a:spcBef>
              <a:spcAft>
                <a:spcPts val="0"/>
              </a:spcAft>
              <a:buSzPts val="1800"/>
              <a:buChar char="–"/>
            </a:pPr>
            <a:r>
              <a:rPr lang="en-US"/>
              <a:t>you are node i and are trying to decide your political stance (node value/features). Suppose you’re undecided (0.5)</a:t>
            </a:r>
            <a:endParaRPr/>
          </a:p>
          <a:p>
            <a:pPr indent="-342900" lvl="1" marL="914400" rtl="0" algn="l">
              <a:spcBef>
                <a:spcPts val="0"/>
              </a:spcBef>
              <a:spcAft>
                <a:spcPts val="0"/>
              </a:spcAft>
              <a:buSzPts val="1800"/>
              <a:buChar char="–"/>
            </a:pPr>
            <a:r>
              <a:rPr lang="en-US"/>
              <a:t>Neighbors: One friend is very right (x</a:t>
            </a:r>
            <a:r>
              <a:rPr baseline="-25000" lang="en-US"/>
              <a:t>j</a:t>
            </a:r>
            <a:r>
              <a:rPr lang="en-US"/>
              <a:t> = 1) another is very left (x</a:t>
            </a:r>
            <a:r>
              <a:rPr baseline="-25000" lang="en-US"/>
              <a:t>k</a:t>
            </a:r>
            <a:r>
              <a:rPr lang="en-US"/>
              <a:t>=0)</a:t>
            </a:r>
            <a:endParaRPr/>
          </a:p>
          <a:p>
            <a:pPr indent="-342900" lvl="1" marL="914400" rtl="0" algn="l">
              <a:spcBef>
                <a:spcPts val="0"/>
              </a:spcBef>
              <a:spcAft>
                <a:spcPts val="0"/>
              </a:spcAft>
              <a:buSzPts val="1800"/>
              <a:buChar char="–"/>
            </a:pPr>
            <a:r>
              <a:rPr lang="en-US"/>
              <a:t>edge: the relationship. </a:t>
            </a:r>
            <a:endParaRPr/>
          </a:p>
          <a:p>
            <a:pPr indent="-342900" lvl="0" marL="457200" rtl="0" algn="l">
              <a:spcBef>
                <a:spcPts val="0"/>
              </a:spcBef>
              <a:spcAft>
                <a:spcPts val="0"/>
              </a:spcAft>
              <a:buSzPts val="1800"/>
              <a:buChar char="•"/>
            </a:pPr>
            <a:r>
              <a:rPr lang="en-US"/>
              <a:t>Computing messages (ψ)</a:t>
            </a:r>
            <a:endParaRPr/>
          </a:p>
          <a:p>
            <a:pPr indent="-342900" lvl="1" marL="914400" rtl="0" algn="l">
              <a:spcBef>
                <a:spcPts val="0"/>
              </a:spcBef>
              <a:spcAft>
                <a:spcPts val="0"/>
              </a:spcAft>
              <a:buSzPts val="1800"/>
              <a:buChar char="–"/>
            </a:pPr>
            <a:r>
              <a:rPr lang="en-US"/>
              <a:t>don’t copy your neighbors but rather interpret them based on who they are and where they stand relative to you</a:t>
            </a:r>
            <a:endParaRPr/>
          </a:p>
          <a:p>
            <a:pPr indent="-342900" lvl="2" marL="1371600" rtl="0" algn="l">
              <a:spcBef>
                <a:spcPts val="0"/>
              </a:spcBef>
              <a:spcAft>
                <a:spcPts val="0"/>
              </a:spcAft>
              <a:buSzPts val="1800"/>
              <a:buChar char="•"/>
            </a:pPr>
            <a:r>
              <a:rPr lang="en-US"/>
              <a:t>normal GNN: your right says “I voted for A”. The message is just their value.</a:t>
            </a:r>
            <a:endParaRPr/>
          </a:p>
          <a:p>
            <a:pPr indent="-342900" lvl="2" marL="1371600" rtl="0" algn="l">
              <a:spcBef>
                <a:spcPts val="0"/>
              </a:spcBef>
              <a:spcAft>
                <a:spcPts val="0"/>
              </a:spcAft>
              <a:buSzPts val="1800"/>
              <a:buChar char="•"/>
            </a:pPr>
            <a:r>
              <a:rPr b="1" lang="en-US"/>
              <a:t>AEGNN</a:t>
            </a:r>
            <a:r>
              <a:rPr lang="en-US"/>
              <a:t> (Spline convs):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type="title"/>
          </p:nvPr>
        </p:nvSpPr>
        <p:spPr>
          <a:xfrm>
            <a:off x="457200" y="95250"/>
            <a:ext cx="116394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solidFill>
                  <a:srgbClr val="005088"/>
                </a:solidFill>
              </a:rPr>
              <a:t>Spline Convolution</a:t>
            </a:r>
            <a:r>
              <a:rPr lang="en-US"/>
              <a:t>: paying attention to spatial arrangement</a:t>
            </a:r>
            <a:endParaRPr/>
          </a:p>
        </p:txBody>
      </p:sp>
      <p:sp>
        <p:nvSpPr>
          <p:cNvPr id="164" name="Google Shape;164;p23"/>
          <p:cNvSpPr txBox="1"/>
          <p:nvPr>
            <p:ph idx="1" type="body"/>
          </p:nvPr>
        </p:nvSpPr>
        <p:spPr>
          <a:xfrm>
            <a:off x="457200" y="1238250"/>
            <a:ext cx="11449200" cy="54483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the edge isn’t just a line but rather a vector describing geometry (neighbor j is 4 pixels up and 35 μs in the past)</a:t>
            </a:r>
            <a:endParaRPr/>
          </a:p>
          <a:p>
            <a:pPr indent="-342900" lvl="0" marL="457200" rtl="0" algn="l">
              <a:spcBef>
                <a:spcPts val="0"/>
              </a:spcBef>
              <a:spcAft>
                <a:spcPts val="0"/>
              </a:spcAft>
              <a:buSzPts val="1800"/>
              <a:buChar char="•"/>
            </a:pPr>
            <a:r>
              <a:rPr lang="en-US"/>
              <a:t>ψ says if the neighbor is to my left (spatial) treat their opinion differently than if they are to my right</a:t>
            </a:r>
            <a:endParaRPr/>
          </a:p>
          <a:p>
            <a:pPr indent="-342900" lvl="0" marL="457200" rtl="0" algn="l">
              <a:spcBef>
                <a:spcPts val="0"/>
              </a:spcBef>
              <a:spcAft>
                <a:spcPts val="0"/>
              </a:spcAft>
              <a:buSzPts val="1800"/>
              <a:buChar char="•"/>
            </a:pPr>
            <a:r>
              <a:rPr lang="en-US"/>
              <a:t>You might trust advice from a close neighbor more than a distant neighbor</a:t>
            </a:r>
            <a:endParaRPr/>
          </a:p>
          <a:p>
            <a:pPr indent="-342900" lvl="0" marL="457200" rtl="0" algn="l">
              <a:spcBef>
                <a:spcPts val="0"/>
              </a:spcBef>
              <a:spcAft>
                <a:spcPts val="0"/>
              </a:spcAft>
              <a:buSzPts val="1800"/>
              <a:buChar char="•"/>
            </a:pPr>
            <a:r>
              <a:rPr lang="en-US"/>
              <a:t>after summation you get your total message z</a:t>
            </a:r>
            <a:r>
              <a:rPr baseline="-25000" lang="en-US"/>
              <a:t>i</a:t>
            </a:r>
            <a:endParaRPr/>
          </a:p>
          <a:p>
            <a:pPr indent="-342900" lvl="0" marL="457200" rtl="0" algn="l">
              <a:spcBef>
                <a:spcPts val="0"/>
              </a:spcBef>
              <a:spcAft>
                <a:spcPts val="0"/>
              </a:spcAft>
              <a:buSzPts val="1800"/>
              <a:buChar char="•"/>
            </a:pPr>
            <a:r>
              <a:rPr lang="en-US"/>
              <a:t>The update (γ</a:t>
            </a:r>
            <a:r>
              <a:rPr baseline="-25000" lang="en-US"/>
              <a:t>θ</a:t>
            </a:r>
            <a:r>
              <a:rPr lang="en-US"/>
              <a:t>): given your own previous opinion (0.5) and z</a:t>
            </a:r>
            <a:r>
              <a:rPr baseline="-25000" lang="en-US"/>
              <a:t>i</a:t>
            </a:r>
            <a:r>
              <a:rPr lang="en-US"/>
              <a:t> you need to make your final value. </a:t>
            </a:r>
            <a:endParaRPr/>
          </a:p>
          <a:p>
            <a:pPr indent="-342900" lvl="1" marL="914400" rtl="0" algn="l">
              <a:spcBef>
                <a:spcPts val="0"/>
              </a:spcBef>
              <a:spcAft>
                <a:spcPts val="0"/>
              </a:spcAft>
              <a:buSzPts val="1800"/>
              <a:buChar char="–"/>
            </a:pPr>
            <a:r>
              <a:rPr lang="en-US"/>
              <a:t>MLP to combine internal state and external node info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24"/>
          <p:cNvSpPr txBox="1"/>
          <p:nvPr/>
        </p:nvSpPr>
        <p:spPr>
          <a:xfrm>
            <a:off x="381000" y="760362"/>
            <a:ext cx="11811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Network Architecture</a:t>
            </a:r>
            <a:endParaRPr/>
          </a:p>
        </p:txBody>
      </p:sp>
      <p:pic>
        <p:nvPicPr>
          <p:cNvPr id="170" name="Google Shape;170;p24"/>
          <p:cNvPicPr preferRelativeResize="0"/>
          <p:nvPr/>
        </p:nvPicPr>
        <p:blipFill>
          <a:blip r:embed="rId3">
            <a:alphaModFix/>
          </a:blip>
          <a:stretch>
            <a:fillRect/>
          </a:stretch>
        </p:blipFill>
        <p:spPr>
          <a:xfrm>
            <a:off x="194175" y="2363912"/>
            <a:ext cx="11887201" cy="213017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25"/>
          <p:cNvSpPr txBox="1"/>
          <p:nvPr/>
        </p:nvSpPr>
        <p:spPr>
          <a:xfrm>
            <a:off x="381000" y="760362"/>
            <a:ext cx="1181100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Network Architecture</a:t>
            </a:r>
            <a:endParaRPr/>
          </a:p>
        </p:txBody>
      </p:sp>
      <p:sp>
        <p:nvSpPr>
          <p:cNvPr id="176" name="Google Shape;176;p25"/>
          <p:cNvSpPr txBox="1"/>
          <p:nvPr/>
        </p:nvSpPr>
        <p:spPr>
          <a:xfrm>
            <a:off x="6334125" y="2294632"/>
            <a:ext cx="575071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5088"/>
                </a:solidFill>
                <a:latin typeface="Merriweather"/>
                <a:ea typeface="Merriweather"/>
                <a:cs typeface="Merriweather"/>
                <a:sym typeface="Merriweather"/>
              </a:rPr>
              <a:t>Spline Convolutions</a:t>
            </a:r>
            <a:endParaRPr/>
          </a:p>
        </p:txBody>
      </p:sp>
      <p:sp>
        <p:nvSpPr>
          <p:cNvPr id="177" name="Google Shape;177;p25"/>
          <p:cNvSpPr txBox="1"/>
          <p:nvPr/>
        </p:nvSpPr>
        <p:spPr>
          <a:xfrm>
            <a:off x="6334125" y="2828032"/>
            <a:ext cx="54768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DM Sans"/>
                <a:ea typeface="DM Sans"/>
                <a:cs typeface="DM Sans"/>
                <a:sym typeface="DM Sans"/>
              </a:rPr>
              <a:t>The authors use s</a:t>
            </a:r>
            <a:r>
              <a:rPr b="0" i="0" lang="en-US" sz="1500" u="none" cap="none" strike="noStrike">
                <a:solidFill>
                  <a:srgbClr val="334155"/>
                </a:solidFill>
                <a:latin typeface="DM Sans"/>
                <a:ea typeface="DM Sans"/>
                <a:cs typeface="DM Sans"/>
                <a:sym typeface="DM Sans"/>
              </a:rPr>
              <a:t>pline </a:t>
            </a:r>
            <a:r>
              <a:rPr lang="en-US" sz="1500">
                <a:solidFill>
                  <a:srgbClr val="334155"/>
                </a:solidFill>
                <a:latin typeface="DM Sans"/>
                <a:ea typeface="DM Sans"/>
                <a:cs typeface="DM Sans"/>
                <a:sym typeface="DM Sans"/>
              </a:rPr>
              <a:t>c</a:t>
            </a:r>
            <a:r>
              <a:rPr b="0" i="0" lang="en-US" sz="1500" u="none" cap="none" strike="noStrike">
                <a:solidFill>
                  <a:srgbClr val="334155"/>
                </a:solidFill>
                <a:latin typeface="DM Sans"/>
                <a:ea typeface="DM Sans"/>
                <a:cs typeface="DM Sans"/>
                <a:sym typeface="DM Sans"/>
              </a:rPr>
              <a:t>onvolutions instead of standard GNN operators. This allows the network to learn from the continuous relative positions of nodes, preserving the precise spatial layout of the visual data. GNN methods don</a:t>
            </a:r>
            <a:r>
              <a:rPr lang="en-US" sz="1500">
                <a:solidFill>
                  <a:srgbClr val="334155"/>
                </a:solidFill>
                <a:latin typeface="DM Sans"/>
                <a:ea typeface="DM Sans"/>
                <a:cs typeface="DM Sans"/>
                <a:sym typeface="DM Sans"/>
              </a:rPr>
              <a:t>’t do this.</a:t>
            </a:r>
            <a:endParaRPr/>
          </a:p>
        </p:txBody>
      </p:sp>
      <p:sp>
        <p:nvSpPr>
          <p:cNvPr id="178" name="Google Shape;178;p25"/>
          <p:cNvSpPr txBox="1"/>
          <p:nvPr/>
        </p:nvSpPr>
        <p:spPr>
          <a:xfrm>
            <a:off x="6334125" y="4313932"/>
            <a:ext cx="5750718"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005088"/>
                </a:solidFill>
                <a:latin typeface="Merriweather"/>
                <a:ea typeface="Merriweather"/>
                <a:cs typeface="Merriweather"/>
                <a:sym typeface="Merriweather"/>
              </a:rPr>
              <a:t>Voxel-Grid Pooling</a:t>
            </a:r>
            <a:endParaRPr/>
          </a:p>
        </p:txBody>
      </p:sp>
      <p:sp>
        <p:nvSpPr>
          <p:cNvPr id="179" name="Google Shape;179;p25"/>
          <p:cNvSpPr txBox="1"/>
          <p:nvPr/>
        </p:nvSpPr>
        <p:spPr>
          <a:xfrm>
            <a:off x="6334125" y="4847332"/>
            <a:ext cx="54768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To enable hierarchical learning, </a:t>
            </a:r>
            <a:r>
              <a:rPr lang="en-US" sz="1500">
                <a:solidFill>
                  <a:srgbClr val="334155"/>
                </a:solidFill>
                <a:latin typeface="DM Sans"/>
                <a:ea typeface="DM Sans"/>
                <a:cs typeface="DM Sans"/>
                <a:sym typeface="DM Sans"/>
              </a:rPr>
              <a:t>they </a:t>
            </a:r>
            <a:r>
              <a:rPr b="0" i="0" lang="en-US" sz="1500" u="none" cap="none" strike="noStrike">
                <a:solidFill>
                  <a:srgbClr val="334155"/>
                </a:solidFill>
                <a:latin typeface="DM Sans"/>
                <a:ea typeface="DM Sans"/>
                <a:cs typeface="DM Sans"/>
                <a:sym typeface="DM Sans"/>
              </a:rPr>
              <a:t>employ a grid-based pooling strategy. Nodes within a defined spatio-temporal voxel are clustered, and their features aggregated via a max operation. This step is also updated asynchronously.</a:t>
            </a:r>
            <a:endParaRPr/>
          </a:p>
        </p:txBody>
      </p:sp>
      <p:pic>
        <p:nvPicPr>
          <p:cNvPr id="180" name="Google Shape;180;p25"/>
          <p:cNvPicPr preferRelativeResize="0"/>
          <p:nvPr/>
        </p:nvPicPr>
        <p:blipFill>
          <a:blip r:embed="rId3">
            <a:alphaModFix/>
          </a:blip>
          <a:stretch>
            <a:fillRect/>
          </a:stretch>
        </p:blipFill>
        <p:spPr>
          <a:xfrm>
            <a:off x="636200" y="2828037"/>
            <a:ext cx="4572000" cy="1600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solidFill>
                  <a:srgbClr val="005088"/>
                </a:solidFill>
              </a:rPr>
              <a:t>Training details</a:t>
            </a:r>
            <a:endParaRPr>
              <a:solidFill>
                <a:srgbClr val="005088"/>
              </a:solidFill>
            </a:endParaRPr>
          </a:p>
        </p:txBody>
      </p:sp>
      <p:sp>
        <p:nvSpPr>
          <p:cNvPr id="186" name="Google Shape;186;p2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Adam optimizer</a:t>
            </a:r>
            <a:endParaRPr/>
          </a:p>
          <a:p>
            <a:pPr indent="-342900" lvl="0" marL="457200" rtl="0" algn="l">
              <a:spcBef>
                <a:spcPts val="0"/>
              </a:spcBef>
              <a:spcAft>
                <a:spcPts val="0"/>
              </a:spcAft>
              <a:buSzPts val="1800"/>
              <a:buChar char="•"/>
            </a:pPr>
            <a:r>
              <a:rPr lang="en-US"/>
              <a:t>lr = 10</a:t>
            </a:r>
            <a:r>
              <a:rPr baseline="30000" lang="en-US"/>
              <a:t>-3</a:t>
            </a:r>
            <a:endParaRPr/>
          </a:p>
          <a:p>
            <a:pPr indent="-342900" lvl="0" marL="457200" rtl="0" algn="l">
              <a:spcBef>
                <a:spcPts val="0"/>
              </a:spcBef>
              <a:spcAft>
                <a:spcPts val="0"/>
              </a:spcAft>
              <a:buSzPts val="1800"/>
              <a:buChar char="•"/>
            </a:pPr>
            <a:r>
              <a:rPr lang="en-US"/>
              <a:t>Quadro RTX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pic>
        <p:nvPicPr>
          <p:cNvPr descr="image.png" id="191" name="Google Shape;191;p27"/>
          <p:cNvPicPr preferRelativeResize="0"/>
          <p:nvPr/>
        </p:nvPicPr>
        <p:blipFill rotWithShape="1">
          <a:blip r:embed="rId3">
            <a:alphaModFix/>
          </a:blip>
          <a:srcRect b="0" l="0" r="0" t="0"/>
          <a:stretch/>
        </p:blipFill>
        <p:spPr>
          <a:xfrm>
            <a:off x="381000" y="1808112"/>
            <a:ext cx="11430000" cy="4668887"/>
          </a:xfrm>
          <a:prstGeom prst="rect">
            <a:avLst/>
          </a:prstGeom>
          <a:noFill/>
          <a:ln>
            <a:noFill/>
          </a:ln>
        </p:spPr>
      </p:pic>
      <p:sp>
        <p:nvSpPr>
          <p:cNvPr id="192" name="Google Shape;192;p27"/>
          <p:cNvSpPr txBox="1"/>
          <p:nvPr/>
        </p:nvSpPr>
        <p:spPr>
          <a:xfrm>
            <a:off x="381000" y="760362"/>
            <a:ext cx="1181100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Efficiency: N-Cars Recognition</a:t>
            </a:r>
            <a:endParaRPr/>
          </a:p>
        </p:txBody>
      </p:sp>
      <p:sp>
        <p:nvSpPr>
          <p:cNvPr id="193" name="Google Shape;193;p27"/>
          <p:cNvSpPr txBox="1"/>
          <p:nvPr/>
        </p:nvSpPr>
        <p:spPr>
          <a:xfrm>
            <a:off x="381000" y="2362348"/>
            <a:ext cx="11430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DM Sans"/>
                <a:ea typeface="DM Sans"/>
                <a:cs typeface="DM Sans"/>
                <a:sym typeface="DM Sans"/>
              </a:rPr>
              <a:t>AEGNN achieves state-of-the-art accuracy with a fraction of the computational cost.</a:t>
            </a:r>
            <a:endParaRPr/>
          </a:p>
        </p:txBody>
      </p:sp>
      <p:sp>
        <p:nvSpPr>
          <p:cNvPr id="194" name="Google Shape;194;p27"/>
          <p:cNvSpPr txBox="1"/>
          <p:nvPr/>
        </p:nvSpPr>
        <p:spPr>
          <a:xfrm>
            <a:off x="381000" y="5667523"/>
            <a:ext cx="114300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350" u="none" cap="none" strike="noStrike">
                <a:solidFill>
                  <a:srgbClr val="334155"/>
                </a:solidFill>
                <a:latin typeface="DM Sans"/>
                <a:ea typeface="DM Sans"/>
                <a:cs typeface="DM Sans"/>
                <a:sym typeface="DM Sans"/>
              </a:rPr>
              <a:t>AEGNN requires </a:t>
            </a:r>
            <a:r>
              <a:rPr b="1" i="1" lang="en-US" sz="1350" u="none" cap="none" strike="noStrike">
                <a:solidFill>
                  <a:srgbClr val="334155"/>
                </a:solidFill>
                <a:latin typeface="DM Sans"/>
                <a:ea typeface="DM Sans"/>
                <a:cs typeface="DM Sans"/>
                <a:sym typeface="DM Sans"/>
              </a:rPr>
              <a:t>~200x less compute</a:t>
            </a:r>
            <a:r>
              <a:rPr b="0" i="1" lang="en-US" sz="1350" u="none" cap="none" strike="noStrike">
                <a:solidFill>
                  <a:srgbClr val="334155"/>
                </a:solidFill>
                <a:latin typeface="DM Sans"/>
                <a:ea typeface="DM Sans"/>
                <a:cs typeface="DM Sans"/>
                <a:sym typeface="DM Sans"/>
              </a:rPr>
              <a:t> than the next best graph-based method while maintaining high accuracy.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nvSpPr>
        <p:spPr>
          <a:xfrm>
            <a:off x="571500" y="950862"/>
            <a:ext cx="5050631"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Object Detection</a:t>
            </a:r>
            <a:endParaRPr/>
          </a:p>
        </p:txBody>
      </p:sp>
      <p:sp>
        <p:nvSpPr>
          <p:cNvPr id="200" name="Google Shape;200;p28"/>
          <p:cNvSpPr txBox="1"/>
          <p:nvPr/>
        </p:nvSpPr>
        <p:spPr>
          <a:xfrm>
            <a:off x="571500" y="2628007"/>
            <a:ext cx="4810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DM Sans"/>
                <a:ea typeface="DM Sans"/>
                <a:cs typeface="DM Sans"/>
                <a:sym typeface="DM Sans"/>
              </a:rPr>
              <a:t>They </a:t>
            </a:r>
            <a:r>
              <a:rPr b="0" i="0" lang="en-US" sz="1500" u="none" cap="none" strike="noStrike">
                <a:solidFill>
                  <a:srgbClr val="334155"/>
                </a:solidFill>
                <a:latin typeface="DM Sans"/>
                <a:ea typeface="DM Sans"/>
                <a:cs typeface="DM Sans"/>
                <a:sym typeface="DM Sans"/>
              </a:rPr>
              <a:t>applied AEGNN to bounding box detection on the Gen1 Automotive dataset.</a:t>
            </a:r>
            <a:endParaRPr/>
          </a:p>
        </p:txBody>
      </p:sp>
      <p:sp>
        <p:nvSpPr>
          <p:cNvPr id="201" name="Google Shape;201;p28"/>
          <p:cNvSpPr txBox="1"/>
          <p:nvPr/>
        </p:nvSpPr>
        <p:spPr>
          <a:xfrm>
            <a:off x="885825" y="3580507"/>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202" name="Google Shape;202;p28"/>
          <p:cNvSpPr txBox="1"/>
          <p:nvPr/>
        </p:nvSpPr>
        <p:spPr>
          <a:xfrm>
            <a:off x="952500" y="3580507"/>
            <a:ext cx="4429125" cy="6096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Higher Accuracy:</a:t>
            </a:r>
            <a:r>
              <a:rPr b="0" i="0" lang="en-US" sz="1500" u="none" cap="none" strike="noStrike">
                <a:solidFill>
                  <a:srgbClr val="334155"/>
                </a:solidFill>
                <a:latin typeface="DM Sans"/>
                <a:ea typeface="DM Sans"/>
                <a:cs typeface="DM Sans"/>
                <a:sym typeface="DM Sans"/>
              </a:rPr>
              <a:t> Outperforms state-of-the-art asynchronous method (AsyNet) by </a:t>
            </a:r>
            <a:r>
              <a:rPr b="1" i="0" lang="en-US" sz="1500" u="none" cap="none" strike="noStrike">
                <a:solidFill>
                  <a:srgbClr val="334155"/>
                </a:solidFill>
                <a:latin typeface="DM Sans"/>
                <a:ea typeface="DM Sans"/>
                <a:cs typeface="DM Sans"/>
                <a:sym typeface="DM Sans"/>
              </a:rPr>
              <a:t>3.4% mAP</a:t>
            </a:r>
            <a:r>
              <a:rPr b="0" i="0" lang="en-US" sz="1500" u="none" cap="none" strike="noStrike">
                <a:solidFill>
                  <a:srgbClr val="334155"/>
                </a:solidFill>
                <a:latin typeface="DM Sans"/>
                <a:ea typeface="DM Sans"/>
                <a:cs typeface="DM Sans"/>
                <a:sym typeface="DM Sans"/>
              </a:rPr>
              <a:t>.</a:t>
            </a:r>
            <a:endParaRPr/>
          </a:p>
        </p:txBody>
      </p:sp>
      <p:sp>
        <p:nvSpPr>
          <p:cNvPr id="203" name="Google Shape;203;p28"/>
          <p:cNvSpPr txBox="1"/>
          <p:nvPr/>
        </p:nvSpPr>
        <p:spPr>
          <a:xfrm>
            <a:off x="885825" y="4190107"/>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204" name="Google Shape;204;p28"/>
          <p:cNvSpPr txBox="1"/>
          <p:nvPr/>
        </p:nvSpPr>
        <p:spPr>
          <a:xfrm>
            <a:off x="952500" y="4190107"/>
            <a:ext cx="4429125" cy="9144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Lower Latency:</a:t>
            </a:r>
            <a:r>
              <a:rPr b="0" i="0" lang="en-US" sz="1500" u="none" cap="none" strike="noStrike">
                <a:solidFill>
                  <a:srgbClr val="334155"/>
                </a:solidFill>
                <a:latin typeface="DM Sans"/>
                <a:ea typeface="DM Sans"/>
                <a:cs typeface="DM Sans"/>
                <a:sym typeface="DM Sans"/>
              </a:rPr>
              <a:t> Processing 25,000 events takes only </a:t>
            </a:r>
            <a:r>
              <a:rPr b="1" i="0" lang="en-US" sz="1500" u="none" cap="none" strike="noStrike">
                <a:solidFill>
                  <a:srgbClr val="334155"/>
                </a:solidFill>
                <a:latin typeface="DM Sans"/>
                <a:ea typeface="DM Sans"/>
                <a:cs typeface="DM Sans"/>
                <a:sym typeface="DM Sans"/>
              </a:rPr>
              <a:t>129ms</a:t>
            </a:r>
            <a:r>
              <a:rPr b="0" i="0" lang="en-US" sz="1500" u="none" cap="none" strike="noStrike">
                <a:solidFill>
                  <a:srgbClr val="334155"/>
                </a:solidFill>
                <a:latin typeface="DM Sans"/>
                <a:ea typeface="DM Sans"/>
                <a:cs typeface="DM Sans"/>
                <a:sym typeface="DM Sans"/>
              </a:rPr>
              <a:t> compared to 1014ms for a standard dense GNN.</a:t>
            </a:r>
            <a:endParaRPr/>
          </a:p>
        </p:txBody>
      </p:sp>
      <p:sp>
        <p:nvSpPr>
          <p:cNvPr id="205" name="Google Shape;205;p28"/>
          <p:cNvSpPr txBox="1"/>
          <p:nvPr/>
        </p:nvSpPr>
        <p:spPr>
          <a:xfrm>
            <a:off x="885825" y="5104507"/>
            <a:ext cx="66675"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DM Sans"/>
                <a:ea typeface="DM Sans"/>
                <a:cs typeface="DM Sans"/>
                <a:sym typeface="DM Sans"/>
              </a:rPr>
              <a:t>•</a:t>
            </a:r>
            <a:endParaRPr/>
          </a:p>
        </p:txBody>
      </p:sp>
      <p:sp>
        <p:nvSpPr>
          <p:cNvPr id="206" name="Google Shape;206;p28"/>
          <p:cNvSpPr txBox="1"/>
          <p:nvPr/>
        </p:nvSpPr>
        <p:spPr>
          <a:xfrm>
            <a:off x="952500" y="5104507"/>
            <a:ext cx="4429125" cy="304800"/>
          </a:xfrm>
          <a:prstGeom prst="rect">
            <a:avLst/>
          </a:prstGeom>
          <a:noFill/>
          <a:ln>
            <a:noFill/>
          </a:ln>
        </p:spPr>
        <p:txBody>
          <a:bodyPr anchorCtr="0" anchor="t" bIns="0" lIns="66675"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DM Sans"/>
                <a:ea typeface="DM Sans"/>
                <a:cs typeface="DM Sans"/>
                <a:sym typeface="DM Sans"/>
              </a:rPr>
              <a:t>Efficiency:</a:t>
            </a:r>
            <a:r>
              <a:rPr b="0" i="0" lang="en-US" sz="1500" u="none" cap="none" strike="noStrike">
                <a:solidFill>
                  <a:srgbClr val="334155"/>
                </a:solidFill>
                <a:latin typeface="DM Sans"/>
                <a:ea typeface="DM Sans"/>
                <a:cs typeface="DM Sans"/>
                <a:sym typeface="DM Sans"/>
              </a:rPr>
              <a:t> Uses only 0.39 MFLOPs/event.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pic>
        <p:nvPicPr>
          <p:cNvPr descr="image.png" id="211" name="Google Shape;211;p29"/>
          <p:cNvPicPr preferRelativeResize="0"/>
          <p:nvPr/>
        </p:nvPicPr>
        <p:blipFill rotWithShape="1">
          <a:blip r:embed="rId3">
            <a:alphaModFix/>
          </a:blip>
          <a:srcRect b="0" l="0" r="0" t="0"/>
          <a:stretch/>
        </p:blipFill>
        <p:spPr>
          <a:xfrm>
            <a:off x="381000" y="2526208"/>
            <a:ext cx="3619500" cy="3232695"/>
          </a:xfrm>
          <a:prstGeom prst="rect">
            <a:avLst/>
          </a:prstGeom>
          <a:noFill/>
          <a:ln>
            <a:noFill/>
          </a:ln>
        </p:spPr>
      </p:pic>
      <p:pic>
        <p:nvPicPr>
          <p:cNvPr descr="image.png" id="212" name="Google Shape;212;p29"/>
          <p:cNvPicPr preferRelativeResize="0"/>
          <p:nvPr/>
        </p:nvPicPr>
        <p:blipFill rotWithShape="1">
          <a:blip r:embed="rId4">
            <a:alphaModFix/>
          </a:blip>
          <a:srcRect b="0" l="0" r="0" t="0"/>
          <a:stretch/>
        </p:blipFill>
        <p:spPr>
          <a:xfrm>
            <a:off x="4286250" y="2526208"/>
            <a:ext cx="3619500" cy="3232695"/>
          </a:xfrm>
          <a:prstGeom prst="rect">
            <a:avLst/>
          </a:prstGeom>
          <a:noFill/>
          <a:ln>
            <a:noFill/>
          </a:ln>
        </p:spPr>
      </p:pic>
      <p:pic>
        <p:nvPicPr>
          <p:cNvPr descr="image.png" id="213" name="Google Shape;213;p29"/>
          <p:cNvPicPr preferRelativeResize="0"/>
          <p:nvPr/>
        </p:nvPicPr>
        <p:blipFill rotWithShape="1">
          <a:blip r:embed="rId4">
            <a:alphaModFix/>
          </a:blip>
          <a:srcRect b="0" l="0" r="0" t="0"/>
          <a:stretch/>
        </p:blipFill>
        <p:spPr>
          <a:xfrm>
            <a:off x="8191500" y="2526208"/>
            <a:ext cx="3619500" cy="3232695"/>
          </a:xfrm>
          <a:prstGeom prst="rect">
            <a:avLst/>
          </a:prstGeom>
          <a:noFill/>
          <a:ln>
            <a:noFill/>
          </a:ln>
        </p:spPr>
      </p:pic>
      <p:sp>
        <p:nvSpPr>
          <p:cNvPr id="214" name="Google Shape;214;p29"/>
          <p:cNvSpPr txBox="1"/>
          <p:nvPr/>
        </p:nvSpPr>
        <p:spPr>
          <a:xfrm>
            <a:off x="381000" y="760362"/>
            <a:ext cx="1181100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05088"/>
                </a:solidFill>
                <a:latin typeface="Merriweather"/>
                <a:ea typeface="Merriweather"/>
                <a:cs typeface="Merriweather"/>
                <a:sym typeface="Merriweather"/>
              </a:rPr>
              <a:t>Key Takeaways</a:t>
            </a:r>
            <a:endParaRPr/>
          </a:p>
        </p:txBody>
      </p:sp>
      <p:sp>
        <p:nvSpPr>
          <p:cNvPr id="215" name="Google Shape;215;p29"/>
          <p:cNvSpPr txBox="1"/>
          <p:nvPr/>
        </p:nvSpPr>
        <p:spPr>
          <a:xfrm>
            <a:off x="1595675" y="3869233"/>
            <a:ext cx="1190148"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FFFFF"/>
                </a:solidFill>
                <a:latin typeface="Merriweather"/>
                <a:ea typeface="Merriweather"/>
                <a:cs typeface="Merriweather"/>
                <a:sym typeface="Merriweather"/>
              </a:rPr>
              <a:t>Efficient</a:t>
            </a:r>
            <a:endParaRPr/>
          </a:p>
        </p:txBody>
      </p:sp>
      <p:sp>
        <p:nvSpPr>
          <p:cNvPr id="216" name="Google Shape;216;p29"/>
          <p:cNvSpPr txBox="1"/>
          <p:nvPr/>
        </p:nvSpPr>
        <p:spPr>
          <a:xfrm>
            <a:off x="666750" y="4478833"/>
            <a:ext cx="30480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E2E8F0"/>
                </a:solidFill>
                <a:latin typeface="DM Sans"/>
                <a:ea typeface="DM Sans"/>
                <a:cs typeface="DM Sans"/>
                <a:sym typeface="DM Sans"/>
              </a:rPr>
              <a:t>200-fold reduction in computational complexity (FLOPs) compared to dense methods.</a:t>
            </a:r>
            <a:endParaRPr/>
          </a:p>
        </p:txBody>
      </p:sp>
      <p:sp>
        <p:nvSpPr>
          <p:cNvPr id="217" name="Google Shape;217;p29"/>
          <p:cNvSpPr txBox="1"/>
          <p:nvPr/>
        </p:nvSpPr>
        <p:spPr>
          <a:xfrm>
            <a:off x="5805963" y="3869233"/>
            <a:ext cx="580072"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FFFFF"/>
                </a:solidFill>
                <a:latin typeface="Merriweather"/>
                <a:ea typeface="Merriweather"/>
                <a:cs typeface="Merriweather"/>
                <a:sym typeface="Merriweather"/>
              </a:rPr>
              <a:t>Fast</a:t>
            </a:r>
            <a:endParaRPr/>
          </a:p>
        </p:txBody>
      </p:sp>
      <p:sp>
        <p:nvSpPr>
          <p:cNvPr id="218" name="Google Shape;218;p29"/>
          <p:cNvSpPr txBox="1"/>
          <p:nvPr/>
        </p:nvSpPr>
        <p:spPr>
          <a:xfrm>
            <a:off x="4572000" y="4478833"/>
            <a:ext cx="30480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E2E8F0"/>
                </a:solidFill>
                <a:latin typeface="DM Sans"/>
                <a:ea typeface="DM Sans"/>
                <a:cs typeface="DM Sans"/>
                <a:sym typeface="DM Sans"/>
              </a:rPr>
              <a:t>8-fold reduction in computational latency, enabling real-time robotics applications.</a:t>
            </a:r>
            <a:endParaRPr/>
          </a:p>
        </p:txBody>
      </p:sp>
      <p:sp>
        <p:nvSpPr>
          <p:cNvPr id="219" name="Google Shape;219;p29"/>
          <p:cNvSpPr txBox="1"/>
          <p:nvPr/>
        </p:nvSpPr>
        <p:spPr>
          <a:xfrm>
            <a:off x="9436179" y="3869233"/>
            <a:ext cx="1130141"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FFFFF"/>
                </a:solidFill>
                <a:latin typeface="Merriweather"/>
                <a:ea typeface="Merriweather"/>
                <a:cs typeface="Merriweather"/>
                <a:sym typeface="Merriweather"/>
              </a:rPr>
              <a:t>Scalable</a:t>
            </a:r>
            <a:endParaRPr/>
          </a:p>
        </p:txBody>
      </p:sp>
      <p:sp>
        <p:nvSpPr>
          <p:cNvPr id="220" name="Google Shape;220;p29"/>
          <p:cNvSpPr txBox="1"/>
          <p:nvPr/>
        </p:nvSpPr>
        <p:spPr>
          <a:xfrm>
            <a:off x="8477250" y="4478833"/>
            <a:ext cx="30480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E2E8F0"/>
                </a:solidFill>
                <a:latin typeface="DM Sans"/>
                <a:ea typeface="DM Sans"/>
                <a:cs typeface="DM Sans"/>
                <a:sym typeface="DM Sans"/>
              </a:rPr>
              <a:t>Enables deep, hierarchical learning on event data without losing temporal resolution.</a:t>
            </a:r>
            <a:endParaRPr/>
          </a:p>
        </p:txBody>
      </p:sp>
      <p:pic>
        <p:nvPicPr>
          <p:cNvPr descr="image.png" id="221" name="Google Shape;221;p29"/>
          <p:cNvPicPr preferRelativeResize="0"/>
          <p:nvPr/>
        </p:nvPicPr>
        <p:blipFill rotWithShape="1">
          <a:blip r:embed="rId5">
            <a:alphaModFix/>
          </a:blip>
          <a:srcRect b="0" l="0" r="0" t="0"/>
          <a:stretch/>
        </p:blipFill>
        <p:spPr>
          <a:xfrm>
            <a:off x="1962150" y="2869108"/>
            <a:ext cx="457200" cy="457200"/>
          </a:xfrm>
          <a:prstGeom prst="rect">
            <a:avLst/>
          </a:prstGeom>
          <a:noFill/>
          <a:ln>
            <a:noFill/>
          </a:ln>
        </p:spPr>
      </p:pic>
      <p:pic>
        <p:nvPicPr>
          <p:cNvPr descr="image.png" id="222" name="Google Shape;222;p29"/>
          <p:cNvPicPr preferRelativeResize="0"/>
          <p:nvPr/>
        </p:nvPicPr>
        <p:blipFill rotWithShape="1">
          <a:blip r:embed="rId6">
            <a:alphaModFix/>
          </a:blip>
          <a:srcRect b="0" l="0" r="0" t="0"/>
          <a:stretch/>
        </p:blipFill>
        <p:spPr>
          <a:xfrm>
            <a:off x="5895975" y="2869108"/>
            <a:ext cx="400050" cy="457200"/>
          </a:xfrm>
          <a:prstGeom prst="rect">
            <a:avLst/>
          </a:prstGeom>
          <a:noFill/>
          <a:ln>
            <a:noFill/>
          </a:ln>
        </p:spPr>
      </p:pic>
      <p:pic>
        <p:nvPicPr>
          <p:cNvPr descr="image.png" id="223" name="Google Shape;223;p29"/>
          <p:cNvPicPr preferRelativeResize="0"/>
          <p:nvPr/>
        </p:nvPicPr>
        <p:blipFill rotWithShape="1">
          <a:blip r:embed="rId7">
            <a:alphaModFix/>
          </a:blip>
          <a:srcRect b="0" l="0" r="0" t="0"/>
          <a:stretch/>
        </p:blipFill>
        <p:spPr>
          <a:xfrm>
            <a:off x="9744075" y="2869108"/>
            <a:ext cx="514350" cy="457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227" name="Shape 227"/>
        <p:cNvGrpSpPr/>
        <p:nvPr/>
      </p:nvGrpSpPr>
      <p:grpSpPr>
        <a:xfrm>
          <a:off x="0" y="0"/>
          <a:ext cx="0" cy="0"/>
          <a:chOff x="0" y="0"/>
          <a:chExt cx="0" cy="0"/>
        </a:xfrm>
      </p:grpSpPr>
      <p:sp>
        <p:nvSpPr>
          <p:cNvPr id="228" name="Google Shape;228;p30"/>
          <p:cNvSpPr txBox="1"/>
          <p:nvPr/>
        </p:nvSpPr>
        <p:spPr>
          <a:xfrm>
            <a:off x="190500" y="1914525"/>
            <a:ext cx="11811000" cy="585000"/>
          </a:xfrm>
          <a:prstGeom prst="rect">
            <a:avLst/>
          </a:prstGeom>
          <a:noFill/>
          <a:ln>
            <a:noFill/>
          </a:ln>
        </p:spPr>
        <p:txBody>
          <a:bodyPr anchorCtr="0" anchor="t" bIns="0" lIns="0" spcFirstLastPara="1" rIns="0" wrap="square" tIns="0">
            <a:spAutoFit/>
          </a:bodyPr>
          <a:lstStyle/>
          <a:p>
            <a:pPr indent="0" lvl="0" marL="0" rtl="0" algn="ctr">
              <a:lnSpc>
                <a:spcPct val="160000"/>
              </a:lnSpc>
              <a:spcBef>
                <a:spcPts val="0"/>
              </a:spcBef>
              <a:spcAft>
                <a:spcPts val="0"/>
              </a:spcAft>
              <a:buClr>
                <a:schemeClr val="dk1"/>
              </a:buClr>
              <a:buFont typeface="Arial"/>
              <a:buNone/>
            </a:pPr>
            <a:r>
              <a:rPr lang="en-US" sz="1500">
                <a:solidFill>
                  <a:srgbClr val="E2E8F0"/>
                </a:solidFill>
                <a:latin typeface="DM Sans"/>
                <a:ea typeface="DM Sans"/>
                <a:cs typeface="DM Sans"/>
                <a:sym typeface="DM Sans"/>
              </a:rPr>
              <a:t>Project Page: uzh-rpg.github.io/aegnn/</a:t>
            </a:r>
            <a:endParaRPr>
              <a:solidFill>
                <a:schemeClr val="dk1"/>
              </a:solidFill>
            </a:endParaRPr>
          </a:p>
          <a:p>
            <a:pPr indent="0" lvl="0" marL="0" marR="0" rtl="0" algn="ctr">
              <a:spcBef>
                <a:spcPts val="0"/>
              </a:spcBef>
              <a:spcAft>
                <a:spcPts val="0"/>
              </a:spcAft>
              <a:buNone/>
            </a:pPr>
            <a:r>
              <a:t/>
            </a:r>
            <a:endParaRPr/>
          </a:p>
        </p:txBody>
      </p:sp>
      <p:sp>
        <p:nvSpPr>
          <p:cNvPr id="229" name="Google Shape;229;p30"/>
          <p:cNvSpPr txBox="1"/>
          <p:nvPr/>
        </p:nvSpPr>
        <p:spPr>
          <a:xfrm>
            <a:off x="381000" y="3324225"/>
            <a:ext cx="11430000" cy="3657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E2E8F0"/>
                </a:solidFill>
                <a:latin typeface="DM Sans"/>
                <a:ea typeface="DM Sans"/>
                <a:cs typeface="DM Sans"/>
                <a:sym typeface="DM Sans"/>
              </a:rPr>
              <a:t>Thank you for your attention.</a:t>
            </a:r>
            <a:endParaRPr/>
          </a:p>
        </p:txBody>
      </p:sp>
      <p:sp>
        <p:nvSpPr>
          <p:cNvPr id="230" name="Google Shape;230;p30"/>
          <p:cNvSpPr txBox="1"/>
          <p:nvPr/>
        </p:nvSpPr>
        <p:spPr>
          <a:xfrm>
            <a:off x="381000" y="4585245"/>
            <a:ext cx="114300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E2E8F0"/>
                </a:solidFill>
                <a:latin typeface="DM Sans"/>
                <a:ea typeface="DM Sans"/>
                <a:cs typeface="DM Sans"/>
                <a:sym typeface="DM Sans"/>
              </a:rPr>
              <a:t>Paper: AEGNN: Asynchronous Event-based Graph Neural Networks (CVPR)</a:t>
            </a:r>
            <a:endParaRPr/>
          </a:p>
        </p:txBody>
      </p:sp>
      <p:sp>
        <p:nvSpPr>
          <p:cNvPr id="231" name="Google Shape;231;p30"/>
          <p:cNvSpPr txBox="1"/>
          <p:nvPr/>
        </p:nvSpPr>
        <p:spPr>
          <a:xfrm>
            <a:off x="381000" y="5080545"/>
            <a:ext cx="11430000" cy="215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